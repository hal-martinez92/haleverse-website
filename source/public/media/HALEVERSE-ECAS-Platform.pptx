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11580e9d814777" /><Relationship Type="http://schemas.openxmlformats.org/officeDocument/2006/relationships/extended-properties" Target="/docProps/app.xml" Id="Rf41f4265ecfe47c4" /><Relationship Type="http://schemas.openxmlformats.org/officeDocument/2006/relationships/officeDocument" Target="/ppt/presentation.xml" Id="Ra7c00658398a47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d36cf951c04d6e"/>
  </p:sldMasterIdLst>
  <p:notesMasterIdLst>
    <p:notesMasterId xmlns:r="http://schemas.openxmlformats.org/officeDocument/2006/relationships" r:id="Rcfd831995ae1402c"/>
  </p:notesMasterIdLst>
  <p:sldIdLst>
    <p:sldId xmlns:r="http://schemas.openxmlformats.org/officeDocument/2006/relationships" id="256" r:id="Rd0d64c5d73ee4da5"/>
    <p:sldId xmlns:r="http://schemas.openxmlformats.org/officeDocument/2006/relationships" id="257" r:id="R569ead96e1524efb"/>
    <p:sldId xmlns:r="http://schemas.openxmlformats.org/officeDocument/2006/relationships" id="258" r:id="Rb6435fea9f254bfe"/>
    <p:sldId xmlns:r="http://schemas.openxmlformats.org/officeDocument/2006/relationships" id="259" r:id="Rce0794c9df034114"/>
    <p:sldId xmlns:r="http://schemas.openxmlformats.org/officeDocument/2006/relationships" id="260" r:id="Rfa1f81d3f948431f"/>
    <p:sldId xmlns:r="http://schemas.openxmlformats.org/officeDocument/2006/relationships" id="261" r:id="R40a3698225e94fbd"/>
    <p:sldId xmlns:r="http://schemas.openxmlformats.org/officeDocument/2006/relationships" id="262" r:id="Re14006c98a8a4880"/>
    <p:sldId xmlns:r="http://schemas.openxmlformats.org/officeDocument/2006/relationships" id="263" r:id="R1ef13d67b946449e"/>
    <p:sldId xmlns:r="http://schemas.openxmlformats.org/officeDocument/2006/relationships" id="264" r:id="R38f6e45cb1ec418f"/>
    <p:sldId xmlns:r="http://schemas.openxmlformats.org/officeDocument/2006/relationships" id="265" r:id="R58660502e8e345b8"/>
    <p:sldId xmlns:r="http://schemas.openxmlformats.org/officeDocument/2006/relationships" id="266" r:id="Rda4dcd2423114395"/>
    <p:sldId xmlns:r="http://schemas.openxmlformats.org/officeDocument/2006/relationships" id="267" r:id="R8c3b7177f6494951"/>
    <p:sldId xmlns:r="http://schemas.openxmlformats.org/officeDocument/2006/relationships" id="268" r:id="R0765abc120f94894"/>
    <p:sldId xmlns:r="http://schemas.openxmlformats.org/officeDocument/2006/relationships" id="269" r:id="Rfe536455eb2c464f"/>
    <p:sldId xmlns:r="http://schemas.openxmlformats.org/officeDocument/2006/relationships" id="270" r:id="R86931c697da349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5c646263bc4371" /><Relationship Type="http://schemas.openxmlformats.org/officeDocument/2006/relationships/slideMaster" Target="/ppt/slideMasters/slideMaster1.xml" Id="R8cd36cf951c04d6e" /><Relationship Type="http://schemas.openxmlformats.org/officeDocument/2006/relationships/notesMaster" Target="/ppt/notesMasters/notesMaster1.xml" Id="Rcfd831995ae1402c" /><Relationship Type="http://schemas.openxmlformats.org/officeDocument/2006/relationships/presProps" Target="/ppt/presProps.xml" Id="Re8cdef187e5e4e87" /><Relationship Type="http://schemas.openxmlformats.org/officeDocument/2006/relationships/tableStyles" Target="/ppt/tableStyles.xml" Id="Rcc5711d37c90475f" /><Relationship Type="http://schemas.openxmlformats.org/officeDocument/2006/relationships/slide" Target="/ppt/slides/slide1.xml" Id="Rd0d64c5d73ee4da5" /><Relationship Type="http://schemas.openxmlformats.org/officeDocument/2006/relationships/slide" Target="/ppt/slides/slide2.xml" Id="R569ead96e1524efb" /><Relationship Type="http://schemas.openxmlformats.org/officeDocument/2006/relationships/slide" Target="/ppt/slides/slide3.xml" Id="Rb6435fea9f254bfe" /><Relationship Type="http://schemas.openxmlformats.org/officeDocument/2006/relationships/slide" Target="/ppt/slides/slide4.xml" Id="Rce0794c9df034114" /><Relationship Type="http://schemas.openxmlformats.org/officeDocument/2006/relationships/slide" Target="/ppt/slides/slide5.xml" Id="Rfa1f81d3f948431f" /><Relationship Type="http://schemas.openxmlformats.org/officeDocument/2006/relationships/slide" Target="/ppt/slides/slide6.xml" Id="R40a3698225e94fbd" /><Relationship Type="http://schemas.openxmlformats.org/officeDocument/2006/relationships/slide" Target="/ppt/slides/slide7.xml" Id="Re14006c98a8a4880" /><Relationship Type="http://schemas.openxmlformats.org/officeDocument/2006/relationships/slide" Target="/ppt/slides/slide8.xml" Id="R1ef13d67b946449e" /><Relationship Type="http://schemas.openxmlformats.org/officeDocument/2006/relationships/slide" Target="/ppt/slides/slide9.xml" Id="R38f6e45cb1ec418f" /><Relationship Type="http://schemas.openxmlformats.org/officeDocument/2006/relationships/slide" Target="/ppt/slides/slide10.xml" Id="R58660502e8e345b8" /><Relationship Type="http://schemas.openxmlformats.org/officeDocument/2006/relationships/slide" Target="/ppt/slides/slide11.xml" Id="Rda4dcd2423114395" /><Relationship Type="http://schemas.openxmlformats.org/officeDocument/2006/relationships/slide" Target="/ppt/slides/slide12.xml" Id="R8c3b7177f6494951" /><Relationship Type="http://schemas.openxmlformats.org/officeDocument/2006/relationships/slide" Target="/ppt/slides/slide13.xml" Id="R0765abc120f94894" /><Relationship Type="http://schemas.openxmlformats.org/officeDocument/2006/relationships/slide" Target="/ppt/slides/slide14.xml" Id="Rfe536455eb2c464f" /><Relationship Type="http://schemas.openxmlformats.org/officeDocument/2006/relationships/slide" Target="/ppt/slides/slide15.xml" Id="R86931c697da349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d253f4a22840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ALEVERS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67E8F9"/>
      </a:hlink>
      <a:folHlink>
        <a:srgbClr val="67E8F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HALEVE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f93b2c43764a0f" /><Relationship Type="http://schemas.openxmlformats.org/officeDocument/2006/relationships/notesMaster" Target="/ppt/notesMasters/notesMaster1.xml" Id="R9ec81511d91c4d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8bf85ac0194b4a" /><Relationship Type="http://schemas.openxmlformats.org/officeDocument/2006/relationships/notesMaster" Target="/ppt/notesMasters/notesMaster1.xml" Id="R96cb4908345c45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c8a9ac317c43a0" /><Relationship Type="http://schemas.openxmlformats.org/officeDocument/2006/relationships/notesMaster" Target="/ppt/notesMasters/notesMaster1.xml" Id="R56c1b7307e754a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e83328ff564122" /><Relationship Type="http://schemas.openxmlformats.org/officeDocument/2006/relationships/notesMaster" Target="/ppt/notesMasters/notesMaster1.xml" Id="R798ed54c014c4b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aea09993154da9" /><Relationship Type="http://schemas.openxmlformats.org/officeDocument/2006/relationships/notesMaster" Target="/ppt/notesMasters/notesMaster1.xml" Id="R6cd618e48a6740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cfc581a9864265" /><Relationship Type="http://schemas.openxmlformats.org/officeDocument/2006/relationships/notesMaster" Target="/ppt/notesMasters/notesMaster1.xml" Id="R9264275a30794e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1f162af83743ca" /><Relationship Type="http://schemas.openxmlformats.org/officeDocument/2006/relationships/notesMaster" Target="/ppt/notesMasters/notesMaster1.xml" Id="R23424355459449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2591b6f89243dd" /><Relationship Type="http://schemas.openxmlformats.org/officeDocument/2006/relationships/notesMaster" Target="/ppt/notesMasters/notesMaster1.xml" Id="R968caa08a6bd41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05bc9d7972420e" /><Relationship Type="http://schemas.openxmlformats.org/officeDocument/2006/relationships/notesMaster" Target="/ppt/notesMasters/notesMaster1.xml" Id="Ra133c433196c47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7d0c73955a4c51" /><Relationship Type="http://schemas.openxmlformats.org/officeDocument/2006/relationships/notesMaster" Target="/ppt/notesMasters/notesMaster1.xml" Id="R4cf61cf701db4e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bc507efbdf4f29" /><Relationship Type="http://schemas.openxmlformats.org/officeDocument/2006/relationships/notesMaster" Target="/ppt/notesMasters/notesMaster1.xml" Id="Rb30849a1cd7e44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eb74fa4338452d" /><Relationship Type="http://schemas.openxmlformats.org/officeDocument/2006/relationships/notesMaster" Target="/ppt/notesMasters/notesMaster1.xml" Id="Re81507e8172c4a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2dc47d3ff94086" /><Relationship Type="http://schemas.openxmlformats.org/officeDocument/2006/relationships/notesMaster" Target="/ppt/notesMasters/notesMaster1.xml" Id="R97ae65f8192c41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637d88f43d441f" /><Relationship Type="http://schemas.openxmlformats.org/officeDocument/2006/relationships/notesMaster" Target="/ppt/notesMasters/notesMaster1.xml" Id="Rbd12e902960741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2b9dda02584d49" /><Relationship Type="http://schemas.openxmlformats.org/officeDocument/2006/relationships/notesMaster" Target="/ppt/notesMasters/notesMaster1.xml" Id="R8eb661847f9f41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de referencia: presentación ejecutiva de Proyecto ECAS - Aseo, preservada antes de esta actualización. ECAS Platform es el producto y HALEVERSE es el oferente. La activación de módulos se acuerda según diagnóstico, piloto y aceptación. No se afirma una integración externa productiva sin validación. Identidad visual tomada del logotipo y de la configuración de marca del proyecto Empresa HALEVERSE. Sitio corporativo: https://haleverse.com, verificado el 25 de octubre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de referencia: presentación ejecutiva de Proyecto ECAS - Aseo, preservada antes de esta actualización. ECAS Platform es el producto y HALEVERSE es el oferente. La activación de módulos se acuerda según diagnóstico, piloto y aceptación. No se afirma una integración externa productiva sin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de referencia: presentación ejecutiva de Proyecto ECAS - Aseo, preservada antes de esta actualización. ECAS Platform es el producto y HALEVERSE es el oferente. La activación de módulos se acuerda según diagnóstico, piloto y aceptación. No se afirma una integración externa productiva sin validación. La imagen corresponde a una demostración del producto con datos de ejemplo.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de referencia: presentación ejecutiva de Proyecto ECAS - Aseo, preservada antes de esta actualización. ECAS Platform es el producto y HALEVERSE es el oferente. La activación de módulos se acuerda según diagnóstico, piloto y aceptación. No se afirma una integración externa productiva sin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de referencia: presentación ejecutiva de Proyecto ECAS - Aseo, preservada antes de esta actualización. ECAS Platform es el producto y HALEVERSE es el oferente. La activación de módulos se acuerda según diagnóstico, piloto y aceptación. No se afirma una integración externa productiva sin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de referencia: presentación ejecutiva de Proyecto ECAS - Aseo, preservada antes de esta actualización. ECAS Platform es el producto y HALEVERSE es el oferente. La activación de módulos se acuerda según diagnóstico, piloto y aceptación. No se afirma una integración externa productiva sin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de referencia: presentación ejecutiva de Proyecto ECAS - Aseo, preservada antes de esta actualización. ECAS Platform es el producto y HALEVERSE es el oferente. La activación de módulos se acuerda según diagnóstico, piloto y aceptación. No se afirma una integración externa productiva sin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de referencia: presentación ejecutiva de Proyecto ECAS - Aseo, preservada antes de esta actualización. ECAS Platform es el producto y HALEVERSE es el oferente. La activación de módulos se acuerda según diagnóstico, piloto y aceptación. No se afirma una integración externa productiva sin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de referencia: presentación ejecutiva de Proyecto ECAS - Aseo, preservada antes de esta actualización. ECAS Platform es el producto y HALEVERSE es el oferente. La activación de módulos se acuerda según diagnóstico, piloto y aceptación. No se afirma una integración externa productiva sin validación. El diagrama presenta posibilidades de conexión sujetas a diagnóstico, acceso a servicios del tercero y pruebas. SUI/RUPS, DIAN, bancos, PILA y otros conectores no se ofrecen como implementados ni como certificación regulatoria.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de referencia: presentación ejecutiva de Proyecto ECAS - Aseo, preservada antes de esta actualización. ECAS Platform es el producto y HALEVERSE es el oferente. La activación de módulos se acuerda según diagnóstico, piloto y aceptación. No se afirma una integración externa productiva sin validación. El contenido, los canales de atención y los documentos públicos se acuerdan con la organización. La información institucional requiere aprobación del cliente antes de su publicación.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de referencia: presentación ejecutiva de Proyecto ECAS - Aseo, preservada antes de esta actualización. ECAS Platform es el producto y HALEVERSE es el oferente. La activación de módulos se acuerda según diagnóstico, piloto y aceptación. No se afirma una integración externa productiva sin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de referencia: presentación ejecutiva de Proyecto ECAS - Aseo, preservada antes de esta actualización. ECAS Platform es el producto y HALEVERSE es el oferente. La activación de módulos se acuerda según diagnóstico, piloto y aceptación. No se afirma una integración externa productiva sin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de referencia: presentación ejecutiva de Proyecto ECAS - Aseo, preservada antes de esta actualización. ECAS Platform es el producto y HALEVERSE es el oferente. La activación de módulos se acuerda según diagnóstico, piloto y aceptación. No se afirma una integración externa productiva sin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de referencia: presentación ejecutiva de Proyecto ECAS - Aseo, preservada antes de esta actualización. ECAS Platform es el producto y HALEVERSE es el oferente. La activación de módulos se acuerda según diagnóstico, piloto y aceptación. No se afirma una integración externa productiva sin validación. El documento base declara rutas, liquidaciones y portales públicos implementados como base. Accesos, datos reales, reglas operativas, seguridad, monitoreo e integraciones requieren validación en las etapas indicadas.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de referencia: presentación ejecutiva de Proyecto ECAS - Aseo, preservada antes de esta actualización. ECAS Platform es el producto y HALEVERSE es el oferente. La activación de módulos se acuerda según diagnóstico, piloto y aceptación. No se afirma una integración externa productiva sin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1f43df00344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82601cff944639" /><Relationship Type="http://schemas.openxmlformats.org/officeDocument/2006/relationships/slideLayout" Target="/ppt/slideLayouts/slideLayout1.xml" Id="R3b1c7285073d4f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1c7285073d4f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a42ee1e564dc7" /><Relationship Type="http://schemas.openxmlformats.org/officeDocument/2006/relationships/image" Target="/ppt/media/image.png" Id="Rbefa1cad3c2546c8" /><Relationship Type="http://schemas.openxmlformats.org/officeDocument/2006/relationships/notesSlide" Target="/ppt/notesSlides/notesSlide1.xml" Id="R0a063997e6e048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74ae8564a40ed" /><Relationship Type="http://schemas.openxmlformats.org/officeDocument/2006/relationships/image" Target="/ppt/media/image2.png" Id="Rc9dbf5e4f378414e" /><Relationship Type="http://schemas.openxmlformats.org/officeDocument/2006/relationships/notesSlide" Target="/ppt/notesSlides/notesSlide2.xml" Id="Rdd6252529f314c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d6059c1ba4259" /><Relationship Type="http://schemas.openxmlformats.org/officeDocument/2006/relationships/image" Target="/ppt/media/image.jpeg" Id="Rce968fcd419d4a85" /><Relationship Type="http://schemas.openxmlformats.org/officeDocument/2006/relationships/image" Target="/ppt/media/image3.png" Id="R04fbb89df96f43c8" /><Relationship Type="http://schemas.openxmlformats.org/officeDocument/2006/relationships/notesSlide" Target="/ppt/notesSlides/notesSlide3.xml" Id="Rceac023df22f48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47344acb14868" /><Relationship Type="http://schemas.openxmlformats.org/officeDocument/2006/relationships/image" Target="/ppt/media/image4.png" Id="R51bfc0d50b4847f3" /><Relationship Type="http://schemas.openxmlformats.org/officeDocument/2006/relationships/notesSlide" Target="/ppt/notesSlides/notesSlide4.xml" Id="Rc348536d415f4e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b6bb429f44096" /><Relationship Type="http://schemas.openxmlformats.org/officeDocument/2006/relationships/image" Target="/ppt/media/image5.png" Id="R760004d644dc4023" /><Relationship Type="http://schemas.openxmlformats.org/officeDocument/2006/relationships/notesSlide" Target="/ppt/notesSlides/notesSlide5.xml" Id="R50314a0b648849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fb69b06da4e47" /><Relationship Type="http://schemas.openxmlformats.org/officeDocument/2006/relationships/image" Target="/ppt/media/image6.png" Id="Re70b1b8b32b044db" /><Relationship Type="http://schemas.openxmlformats.org/officeDocument/2006/relationships/notesSlide" Target="/ppt/notesSlides/notesSlide6.xml" Id="Raf67705aff0a4e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e38cb8a364b84" /><Relationship Type="http://schemas.openxmlformats.org/officeDocument/2006/relationships/image" Target="/ppt/media/image7.png" Id="R6dee05f8de78457e" /><Relationship Type="http://schemas.openxmlformats.org/officeDocument/2006/relationships/notesSlide" Target="/ppt/notesSlides/notesSlide7.xml" Id="Rab67f0c9b3d941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bb1ac14e34b67" /><Relationship Type="http://schemas.openxmlformats.org/officeDocument/2006/relationships/image" Target="/ppt/media/image8.png" Id="R036b31a2649547c8" /><Relationship Type="http://schemas.openxmlformats.org/officeDocument/2006/relationships/notesSlide" Target="/ppt/notesSlides/notesSlide8.xml" Id="R7818c0ba356242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21f7bef2a49ea" /><Relationship Type="http://schemas.openxmlformats.org/officeDocument/2006/relationships/image" Target="/ppt/media/image9.png" Id="Rc10e49ffd36f404a" /><Relationship Type="http://schemas.openxmlformats.org/officeDocument/2006/relationships/notesSlide" Target="/ppt/notesSlides/notesSlide9.xml" Id="R3df1661665c64a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ea56cb92849a1" /><Relationship Type="http://schemas.openxmlformats.org/officeDocument/2006/relationships/image" Target="/ppt/media/image10.png" Id="R62f9d5bce13e4668" /><Relationship Type="http://schemas.openxmlformats.org/officeDocument/2006/relationships/notesSlide" Target="/ppt/notesSlides/notesSlide10.xml" Id="R88bef052e6c04c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b654bb6244a8d" /><Relationship Type="http://schemas.openxmlformats.org/officeDocument/2006/relationships/image" Target="/ppt/media/image11.png" Id="R0ced7186954c4df1" /><Relationship Type="http://schemas.openxmlformats.org/officeDocument/2006/relationships/notesSlide" Target="/ppt/notesSlides/notesSlide11.xml" Id="Ra29cfdcce8924e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2a56cc6134bf6" /><Relationship Type="http://schemas.openxmlformats.org/officeDocument/2006/relationships/image" Target="/ppt/media/image12.png" Id="R223ee2c50f2d491a" /><Relationship Type="http://schemas.openxmlformats.org/officeDocument/2006/relationships/notesSlide" Target="/ppt/notesSlides/notesSlide12.xml" Id="R46beadc26cb440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22488265b4d6e" /><Relationship Type="http://schemas.openxmlformats.org/officeDocument/2006/relationships/image" Target="/ppt/media/image13.png" Id="Rb49fecd228df4de8" /><Relationship Type="http://schemas.openxmlformats.org/officeDocument/2006/relationships/notesSlide" Target="/ppt/notesSlides/notesSlide13.xml" Id="Ra8d312c7273645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76626ba5448a6" /><Relationship Type="http://schemas.openxmlformats.org/officeDocument/2006/relationships/image" Target="/ppt/media/image14.png" Id="Rcdcfbb4fb5ed4e2f" /><Relationship Type="http://schemas.openxmlformats.org/officeDocument/2006/relationships/notesSlide" Target="/ppt/notesSlides/notesSlide14.xml" Id="R353a5a23f8f94f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47109309e4d2f" /><Relationship Type="http://schemas.openxmlformats.org/officeDocument/2006/relationships/image" Target="/ppt/media/image15.png" Id="Re5b30978da914224" /><Relationship Type="http://schemas.openxmlformats.org/officeDocument/2006/relationships/notesSlide" Target="/ppt/notesSlides/notesSlide15.xml" Id="R0bc470d3d72e40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9F675-8C02-45FE-86BB-A35597FF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428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7F54A-8CD8-4602-8DDE-8CF43073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2200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SOLUCIONES PARA ECA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DF132-B3A5-4796-8873-DD6D14D0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ECAS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DF2F1-DDAC-4493-A123-55323593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576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Gestión del aprovechamiento y renovación tecnológica para su organización.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66DA0-E327-4177-857C-71165304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38200"/>
            <a:ext cx="285750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681B2-A2CF-4477-84B4-A68AEF04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81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GESTIÓN OPERATIVA Y RENOVACIÓN 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FA67C-C001-4207-BB33-7BAFE6AD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0198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B8CBDC"/>
                </a:solidFill>
              </a:defRPr>
            </a:defPPr>
            <a:lvl1pPr>
              <a:buNone/>
              <a:defRPr>
                <a:solidFill>
                  <a:srgbClr val="B8CBDC"/>
                </a:solidFill>
              </a:defRPr>
            </a:lvl1pPr>
            <a:lvl2pPr>
              <a:buNone/>
              <a:defRPr>
                <a:solidFill>
                  <a:srgbClr val="B8CBDC"/>
                </a:solidFill>
              </a:defRPr>
            </a:lvl2pPr>
            <a:lvl3pPr>
              <a:buNone/>
              <a:defRPr>
                <a:solidFill>
                  <a:srgbClr val="B8CBDC"/>
                </a:solidFill>
              </a:defRPr>
            </a:lvl3pPr>
            <a:lvl4pPr>
              <a:buNone/>
              <a:defRPr>
                <a:solidFill>
                  <a:srgbClr val="B8CBDC"/>
                </a:solidFill>
              </a:defRPr>
            </a:lvl4pPr>
            <a:lvl5pPr>
              <a:buNone/>
              <a:defRPr>
                <a:solidFill>
                  <a:srgbClr val="B8CBDC"/>
                </a:solidFill>
              </a:defRPr>
            </a:lvl5pPr>
            <a:lvl6pPr>
              <a:buNone/>
              <a:defRPr>
                <a:solidFill>
                  <a:srgbClr val="B8CBDC"/>
                </a:solidFill>
              </a:defRPr>
            </a:lvl6pPr>
            <a:lvl7pPr>
              <a:buNone/>
              <a:defRPr>
                <a:solidFill>
                  <a:srgbClr val="B8CBDC"/>
                </a:solidFill>
              </a:defRPr>
            </a:lvl7pPr>
            <a:lvl8pPr>
              <a:buNone/>
              <a:defRPr>
                <a:solidFill>
                  <a:srgbClr val="B8CBDC"/>
                </a:solidFill>
              </a:defRPr>
            </a:lvl8pPr>
            <a:lvl9pPr>
              <a:buNone/>
              <a:defRPr>
                <a:solidFill>
                  <a:srgbClr val="B8CBDC"/>
                </a:solidFill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B9C9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BDC"/>
                </a:solidFill>
                <a:latin typeface="Aptos"/>
                <a:ea typeface="Aptos"/>
                <a:cs typeface="Aptos"/>
              </a:rPr>
              <a:t>Octubre de 2026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8A4F7-A0E8-48C9-ADAC-2B7D5F7313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a1cad3c2546c8"/>
          <a:srcRect xmlns:a="http://schemas.openxmlformats.org/drawingml/2006/main" l="28000" t="28000" r="28000" b="28000"/>
          <a:stretch xmlns:a="http://schemas.openxmlformats.org/drawingml/2006/main"/>
        </p:blipFill>
        <p:spPr>
          <a:xfrm xmlns:a="http://schemas.openxmlformats.org/drawingml/2006/main">
            <a:off x="8096250" y="838200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11" name="HALEVERSE brand">
            <a:extLst xmlns:a="http://schemas.openxmlformats.org/drawingml/2006/main">
              <a:ext uri="{FF2B5EF4-FFF2-40B4-BE49-F238E27FC236}">
                <a16:creationId xmlns:a16="http://schemas.microsoft.com/office/drawing/2014/main" id="{8D37C933-27E2-482A-AE21-C0FC260D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  <a:lvl1pPr algn="ctr">
              <a:buNone/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  <a:lvl2pPr algn="ctr">
              <a:buNone/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2pPr>
            <a:lvl3pPr algn="ctr">
              <a:buNone/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3pPr>
            <a:lvl4pPr algn="ctr">
              <a:buNone/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4pPr>
            <a:lvl5pPr algn="ctr">
              <a:buNone/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5pPr>
            <a:lvl6pPr algn="ctr">
              <a:buNone/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6pPr>
            <a:lvl7pPr algn="ctr">
              <a:buNone/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7pPr>
            <a:lvl8pPr algn="ctr">
              <a:buNone/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8pPr>
            <a:lvl9pPr algn="ctr">
              <a:buNone/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HALEVERSE</a:t>
            </a:r>
          </a:p>
        </p:txBody>
      </p:sp>
    </p:spTree>
    <p:extLst>
      <p:ext uri="{BB962C8B-B14F-4D97-AF65-F5344CB8AC3E}">
        <p14:creationId xmlns:p14="http://schemas.microsoft.com/office/powerpoint/2010/main" val="16922871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75FA9-1484-4B4A-BDDA-96719A65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RENOVACIÓN TECNOLÓGICA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91BA8-4A02-48E5-8BB6-06B61802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La información conectada facilita el control de su ECA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350F7-13B3-4DC6-AF2A-A4699583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Una operación con información dispersa exige más tiempo para consultar, revisar y tomar decisiones.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67607-06AA-4FB7-9BC1-E45B5D42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7F78A-8060-435E-87CE-FB98B4CB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34766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ADA5E-C4A6-4361-AA71-857E528D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23E06-94CB-49D0-9E19-5408492C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Trazabilidad fragmentada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B07D0-855D-44BA-A979-0C322FAE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905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Pesajes, rutas, inventario y soportes no siempre cuentan la misma historia.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DA081-D4D2-45B6-AEF9-24686342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343150"/>
            <a:ext cx="34766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6D882-28AF-4CFA-9F25-085F023C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9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FE077-F9AF-4D4F-A2AA-7B85731A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051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Documentación dispersa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B1380-DBD9-49F7-AEB2-772B1349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43350"/>
            <a:ext cx="2905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DAE7F3"/>
                </a:solidFill>
              </a:defRPr>
            </a:defPPr>
            <a:lvl1pPr>
              <a:buNone/>
              <a:defRPr>
                <a:solidFill>
                  <a:srgbClr val="DAE7F3"/>
                </a:solidFill>
              </a:defRPr>
            </a:lvl1pPr>
            <a:lvl2pPr>
              <a:buNone/>
              <a:defRPr>
                <a:solidFill>
                  <a:srgbClr val="DAE7F3"/>
                </a:solidFill>
              </a:defRPr>
            </a:lvl2pPr>
            <a:lvl3pPr>
              <a:buNone/>
              <a:defRPr>
                <a:solidFill>
                  <a:srgbClr val="DAE7F3"/>
                </a:solidFill>
              </a:defRPr>
            </a:lvl3pPr>
            <a:lvl4pPr>
              <a:buNone/>
              <a:defRPr>
                <a:solidFill>
                  <a:srgbClr val="DAE7F3"/>
                </a:solidFill>
              </a:defRPr>
            </a:lvl4pPr>
            <a:lvl5pPr>
              <a:buNone/>
              <a:defRPr>
                <a:solidFill>
                  <a:srgbClr val="DAE7F3"/>
                </a:solidFill>
              </a:defRPr>
            </a:lvl5pPr>
            <a:lvl6pPr>
              <a:buNone/>
              <a:defRPr>
                <a:solidFill>
                  <a:srgbClr val="DAE7F3"/>
                </a:solidFill>
              </a:defRPr>
            </a:lvl6pPr>
            <a:lvl7pPr>
              <a:buNone/>
              <a:defRPr>
                <a:solidFill>
                  <a:srgbClr val="DAE7F3"/>
                </a:solidFill>
              </a:defRPr>
            </a:lvl7pPr>
            <a:lvl8pPr>
              <a:buNone/>
              <a:defRPr>
                <a:solidFill>
                  <a:srgbClr val="DAE7F3"/>
                </a:solidFill>
              </a:defRPr>
            </a:lvl8pPr>
            <a:lvl9pPr>
              <a:buNone/>
              <a:defRPr>
                <a:solidFill>
                  <a:srgbClr val="DAE7F3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D8E7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AE7F3"/>
                </a:solidFill>
                <a:latin typeface="Aptos"/>
                <a:ea typeface="Aptos"/>
                <a:cs typeface="Aptos"/>
              </a:rPr>
              <a:t>Reunir documentos y evidencias al final del proceso dificulta su revisión.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94109-A6C4-4603-BD92-A15AF9EC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34766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14FAE-1BB9-444E-8AD3-7E98F20F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9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47CE0-206A-435D-A908-008C758E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051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Presencia digital limitada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110E1-8EC3-4D7C-980D-E5CC8B9F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2905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Una web desactualizada dificulta mostrar servicios y atender consultas.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75BC7-437E-4B11-BE5B-C6671F0C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76875"/>
            <a:ext cx="7334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8634D-50DD-4389-B15D-B3BCE447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710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HALEVERSE: gestión operativa, renovación web y acompañamiento tecnológico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65A92-35B2-4F22-9F6B-3CA30637A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bf5e4f378414e"/>
          <a:srcRect xmlns:a="http://schemas.openxmlformats.org/drawingml/2006/main" l="28000" t="28000" r="28000" b="28000"/>
          <a:stretch xmlns:a="http://schemas.openxmlformats.org/drawingml/2006/main"/>
        </p:blipFill>
        <p:spPr>
          <a:xfrm xmlns:a="http://schemas.openxmlformats.org/drawingml/2006/main">
            <a:off x="495300" y="6115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1" name="HALEVERSE brand">
            <a:extLst xmlns:a="http://schemas.openxmlformats.org/drawingml/2006/main">
              <a:ext uri="{FF2B5EF4-FFF2-40B4-BE49-F238E27FC236}">
                <a16:creationId xmlns:a16="http://schemas.microsoft.com/office/drawing/2014/main" id="{361D1C02-B73A-4D7A-A428-FAD2E8FC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817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HALEVERSE</a:t>
            </a:r>
          </a:p>
        </p:txBody>
      </p:sp>
    </p:spTree>
    <p:extLst>
      <p:ext uri="{BB962C8B-B14F-4D97-AF65-F5344CB8AC3E}">
        <p14:creationId xmlns:p14="http://schemas.microsoft.com/office/powerpoint/2010/main" val="5418024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27ED96-7B31-492A-A1EC-E8B6BC58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ECAS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79F74-A8F4-4752-A190-82DB0246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Una plataforma para organizar su operación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E70A3-865B-4122-93DC-FAE3B26D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ECAS Platform está diseñada para conectar registros operativos, indicadores y documentos en una experiencia web clara.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FAB11-DD8D-450B-93DA-FBC2B64E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7E004-C061-4A03-B8AB-58DFCC5F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242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99681-CF90-4FC9-BC1C-4A65847C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Información centralizada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038F4-D238-4410-A99F-2D237CC7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88A5D-1DE9-4728-BD2D-758B9D17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957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E8C3B-93A1-4F2F-A1BE-B8F9F2CE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Seguimiento por organización y sede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AAC87-4AA1-43C9-955F-61B346D0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8702C-F275-4E6D-95B8-8234878A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672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94958-777C-4814-88AC-E11ED1AB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Indicadores y soportes consultables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AD3C4-FCC4-4A56-9799-E3CDA0E8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2450"/>
            <a:ext cx="5905500" cy="5619750"/>
          </a:xfrm>
          <a:prstGeom xmlns:a="http://schemas.openxmlformats.org/drawingml/2006/main" prst="roundRect">
            <a:avLst>
              <a:gd name="adj" fmla="val 1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B029BF-8CAA-4601-A931-EA19D999D8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68fcd419d4a85"/>
          <a:srcRect xmlns:a="http://schemas.openxmlformats.org/drawingml/2006/main" l="20345" t="0" r="203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704850"/>
            <a:ext cx="5600700" cy="5314950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B76E5-C752-45CB-9D53-D2AF1B82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838200"/>
            <a:ext cx="1762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8E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721CE-06F0-479E-A171-E45FF5DC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885825"/>
            <a:ext cx="1533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DATOS DE DEMOSTRACIÓN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F64FA-0151-4891-8295-12856C7C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15CE03-9397-4B09-AD8E-19C441C4AB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bb89df96f43c8"/>
          <a:srcRect xmlns:a="http://schemas.openxmlformats.org/drawingml/2006/main" l="28000" t="28000" r="28000" b="28000"/>
          <a:stretch xmlns:a="http://schemas.openxmlformats.org/drawingml/2006/main"/>
        </p:blipFill>
        <p:spPr>
          <a:xfrm xmlns:a="http://schemas.openxmlformats.org/drawingml/2006/main">
            <a:off x="495300" y="6115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5" name="HALEVERSE brand">
            <a:extLst xmlns:a="http://schemas.openxmlformats.org/drawingml/2006/main">
              <a:ext uri="{FF2B5EF4-FFF2-40B4-BE49-F238E27FC236}">
                <a16:creationId xmlns:a16="http://schemas.microsoft.com/office/drawing/2014/main" id="{28B7F700-5A53-4BB7-BE3C-BABEBF85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817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HALEVERSE</a:t>
            </a:r>
          </a:p>
        </p:txBody>
      </p:sp>
    </p:spTree>
    <p:extLst>
      <p:ext uri="{BB962C8B-B14F-4D97-AF65-F5344CB8AC3E}">
        <p14:creationId xmlns:p14="http://schemas.microsoft.com/office/powerpoint/2010/main" val="13129374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73F1E1-412A-4A49-98BC-4B0814A0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GESTIÓN OPERATIVA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D32C8-5026-4614-BD77-861DF22F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Una cadena de información para su operación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A0529-7D90-49F8-A8CA-55F1C38F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Cada etapa relaciona responsables, materiales y documentos de soporte.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FB360-CB59-42E1-A557-3D1A5F95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0B568-4122-4527-81AE-19E2B3DC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099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8C888-3A7C-400D-8306-FC620D1E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00350"/>
            <a:ext cx="1581150" cy="17526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946B1-4BCA-46A2-85A6-280691E0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46D60-A121-48AD-84DA-B6E60BF3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19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A77B3-70B3-4B4D-BE20-77583DAD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Planear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B17ED-DBB1-46A2-B4A2-7854BFCB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Macrorruta, microrruta y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99B0F-8475-4B55-A2D4-6B9E573A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099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BF2DC-1631-4572-980A-6618F64F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00350"/>
            <a:ext cx="1581150" cy="17526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723DC-0230-4C4B-A32F-CA542815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718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BD8D7-DE63-4B15-84BC-A0744BF4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19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D7E7B-30F7-4CA3-8EE1-8E9C56EF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861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Recorrer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2ED3E-170F-4BF7-8B4A-9C84F71C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243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Jornada, GPS y puntos atendidos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2BA9A-044C-4270-8AD0-7E627F68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099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0D36C3-1CB5-4C0C-9659-6BF94331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1581150" cy="17526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F7F4A-B0B1-4EA6-90E9-5F2C04F7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718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119F7-496E-433D-950C-1C7E6555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19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77C5F-7101-46EC-9EE2-CF8C1DE6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861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Recibir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0CF452-A0E7-4380-AEFE-E454D5A0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243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Llegada, pesaje y clasificación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2C4187-58C2-4FD5-9AC9-CBACB035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099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6E234B-36F1-4687-99EA-03FAEE1B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1581150" cy="17526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70AEB4-38C7-46C9-BB9F-8B19ECDB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2B6DDD-9FFC-406D-ADDC-FEC4855C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19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126A84-EC48-4D11-910E-1014E0E3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Custodiar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74FA37-E2D9-448D-9006-01D70133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Lote, inventario y comercialización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0A15C8-7F1C-45D7-889A-1C754BBF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099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9085CF-ADCA-4FED-956F-8F8B9D6E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1581150" cy="17526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3DAFF3-154C-4E1D-AB0F-AE1C7290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55AA71-2B90-4461-90C1-F8AC50D3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19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AD9734-20EA-4DA0-AFF2-A8A96C27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861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Liquidar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A2E495-9408-45E3-8AC4-F6E9AEE1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243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Servicios, material e incentivos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DC9713-BDE7-46B9-880A-FC92AFA1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00350"/>
            <a:ext cx="1581150" cy="17526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846B39-E3D4-40B2-94C4-6A250AC6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718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840D50-8F84-4BDF-BE75-4ECC4B26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019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9FF10F-36E7-4054-9518-4E8F7140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4861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Soportar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75B884-140A-4954-A740-C087B81F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9243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DAE7F3"/>
                </a:solidFill>
              </a:defRPr>
            </a:defPPr>
            <a:lvl1pPr>
              <a:buNone/>
              <a:defRPr>
                <a:solidFill>
                  <a:srgbClr val="DAE7F3"/>
                </a:solidFill>
              </a:defRPr>
            </a:lvl1pPr>
            <a:lvl2pPr>
              <a:buNone/>
              <a:defRPr>
                <a:solidFill>
                  <a:srgbClr val="DAE7F3"/>
                </a:solidFill>
              </a:defRPr>
            </a:lvl2pPr>
            <a:lvl3pPr>
              <a:buNone/>
              <a:defRPr>
                <a:solidFill>
                  <a:srgbClr val="DAE7F3"/>
                </a:solidFill>
              </a:defRPr>
            </a:lvl3pPr>
            <a:lvl4pPr>
              <a:buNone/>
              <a:defRPr>
                <a:solidFill>
                  <a:srgbClr val="DAE7F3"/>
                </a:solidFill>
              </a:defRPr>
            </a:lvl4pPr>
            <a:lvl5pPr>
              <a:buNone/>
              <a:defRPr>
                <a:solidFill>
                  <a:srgbClr val="DAE7F3"/>
                </a:solidFill>
              </a:defRPr>
            </a:lvl5pPr>
            <a:lvl6pPr>
              <a:buNone/>
              <a:defRPr>
                <a:solidFill>
                  <a:srgbClr val="DAE7F3"/>
                </a:solidFill>
              </a:defRPr>
            </a:lvl6pPr>
            <a:lvl7pPr>
              <a:buNone/>
              <a:defRPr>
                <a:solidFill>
                  <a:srgbClr val="DAE7F3"/>
                </a:solidFill>
              </a:defRPr>
            </a:lvl7pPr>
            <a:lvl8pPr>
              <a:buNone/>
              <a:defRPr>
                <a:solidFill>
                  <a:srgbClr val="DAE7F3"/>
                </a:solidFill>
              </a:defRPr>
            </a:lvl8pPr>
            <a:lvl9pPr>
              <a:buNone/>
              <a:defRPr>
                <a:solidFill>
                  <a:srgbClr val="DAE7F3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D8E7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AE7F3"/>
                </a:solidFill>
                <a:latin typeface="Aptos"/>
                <a:ea typeface="Aptos"/>
                <a:cs typeface="Aptos"/>
              </a:rPr>
              <a:t>Comprobantes y reportes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AB87C2-F9FE-4BDC-85B5-4FBBF6D2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Resultado esperado: registros relacionados y soportes disponibles para revisión.</a:t>
            </a:r>
          </a:p>
        </p:txBody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F8DFB9-3C66-449A-8D5F-60143D1BBA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fc0d50b4847f3"/>
          <a:srcRect xmlns:a="http://schemas.openxmlformats.org/drawingml/2006/main" l="28000" t="28000" r="28000" b="28000"/>
          <a:stretch xmlns:a="http://schemas.openxmlformats.org/drawingml/2006/main"/>
        </p:blipFill>
        <p:spPr>
          <a:xfrm xmlns:a="http://schemas.openxmlformats.org/drawingml/2006/main">
            <a:off x="495300" y="6115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43" name="HALEVERSE brand">
            <a:extLst xmlns:a="http://schemas.openxmlformats.org/drawingml/2006/main">
              <a:ext uri="{FF2B5EF4-FFF2-40B4-BE49-F238E27FC236}">
                <a16:creationId xmlns:a16="http://schemas.microsoft.com/office/drawing/2014/main" id="{C5B6E38F-9965-4DFE-8E99-8C0E58E9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817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HALEVERSE</a:t>
            </a:r>
          </a:p>
        </p:txBody>
      </p:sp>
    </p:spTree>
    <p:extLst>
      <p:ext uri="{BB962C8B-B14F-4D97-AF65-F5344CB8AC3E}">
        <p14:creationId xmlns:p14="http://schemas.microsoft.com/office/powerpoint/2010/main" val="1178159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CFF17D-FEEB-41D0-B664-46C3A40A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TRAZABILIDAD TERRITORIAL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50C1B-5A6F-4C5C-9300-632B8D65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Rutas y jornadas con información trazable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B27DC-8DF3-4CF5-94A2-34988A10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La configuración vincula áreas, rutas, responsables y puntos de atención.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A7753-3768-4F0C-8902-13F5A089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1548C-4187-4398-ADE4-D5F9EFFF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C662A-1632-44C4-B3D1-4C13DA7B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E6C31-2551-4F2D-A3CB-54905F98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193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870AD-C1AD-4788-AC11-180B81B1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Macrorruta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A2185-07EA-4FA7-88CF-7E27E035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DAE7F3"/>
                </a:solidFill>
              </a:defRPr>
            </a:defPPr>
            <a:lvl1pPr>
              <a:buNone/>
              <a:defRPr>
                <a:solidFill>
                  <a:srgbClr val="DAE7F3"/>
                </a:solidFill>
              </a:defRPr>
            </a:lvl1pPr>
            <a:lvl2pPr>
              <a:buNone/>
              <a:defRPr>
                <a:solidFill>
                  <a:srgbClr val="DAE7F3"/>
                </a:solidFill>
              </a:defRPr>
            </a:lvl2pPr>
            <a:lvl3pPr>
              <a:buNone/>
              <a:defRPr>
                <a:solidFill>
                  <a:srgbClr val="DAE7F3"/>
                </a:solidFill>
              </a:defRPr>
            </a:lvl3pPr>
            <a:lvl4pPr>
              <a:buNone/>
              <a:defRPr>
                <a:solidFill>
                  <a:srgbClr val="DAE7F3"/>
                </a:solidFill>
              </a:defRPr>
            </a:lvl4pPr>
            <a:lvl5pPr>
              <a:buNone/>
              <a:defRPr>
                <a:solidFill>
                  <a:srgbClr val="DAE7F3"/>
                </a:solidFill>
              </a:defRPr>
            </a:lvl5pPr>
            <a:lvl6pPr>
              <a:buNone/>
              <a:defRPr>
                <a:solidFill>
                  <a:srgbClr val="DAE7F3"/>
                </a:solidFill>
              </a:defRPr>
            </a:lvl6pPr>
            <a:lvl7pPr>
              <a:buNone/>
              <a:defRPr>
                <a:solidFill>
                  <a:srgbClr val="DAE7F3"/>
                </a:solidFill>
              </a:defRPr>
            </a:lvl7pPr>
            <a:lvl8pPr>
              <a:buNone/>
              <a:defRPr>
                <a:solidFill>
                  <a:srgbClr val="DAE7F3"/>
                </a:solidFill>
              </a:defRPr>
            </a:lvl8pPr>
            <a:lvl9pPr>
              <a:buNone/>
              <a:defRPr>
                <a:solidFill>
                  <a:srgbClr val="DAE7F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D8E7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AE7F3"/>
                </a:solidFill>
                <a:latin typeface="Aptos"/>
                <a:ea typeface="Aptos"/>
                <a:cs typeface="Aptos"/>
              </a:rPr>
              <a:t>Área de prestación, municipios, localidades, barrios y frecuencia.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E02AE-0870-4071-9535-88DC6755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051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C45FE1-6265-4052-81A9-B6D8FE98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6220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1B1F7-A928-41FC-A8A7-3D4C8716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CA743-EBC8-4FA1-B280-0B9B0088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193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8E1E3F-449C-4FC6-8AAE-930BAACA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62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Microrruta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D9527-A874-4F58-9119-7D33A22A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90950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Inicio, fin, horario, reciclador, vehículo y puntos programados.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1EB5D-FB90-4D2A-94D5-0DB8CBAF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051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7B48E-9536-4054-B1E8-8A10DF58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54220-A077-4E5F-89B0-06E918E1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8E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0FAD66-FE8D-46CD-A89D-CAE94005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193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7453C-17B1-4B71-9478-22E05F59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62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Registro de jornada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700A16-2AC7-4B0F-B57F-528CF78D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Servicios, material recuperado y destino. GPS según alcance acordado.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C0F695-883C-4873-AE55-67F75066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95925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342D9C-3030-4597-A775-3E70A51C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435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Frecuencia y horarios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958F49-B8B1-49A7-8D34-D99F35FE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49592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1B562D-6661-4C1F-91EC-BF3481F9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5435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Reciclador y vehículo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93E31-3D73-407C-A749-8A1F6B08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95925"/>
            <a:ext cx="2143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8E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8FE18B-2AEC-4BC6-B324-254AC9A4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43550"/>
            <a:ext cx="1914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Puntos y usuarios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5B52B8-FFCA-4FC5-B804-8EB51D38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95925"/>
            <a:ext cx="1657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E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FB4E9C-35F5-4D65-B435-D93E6FDF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43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Pesaje y destino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866871-73FE-4361-B9EB-A8602A1533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004d644dc4023"/>
          <a:srcRect xmlns:a="http://schemas.openxmlformats.org/drawingml/2006/main" l="28000" t="28000" r="28000" b="28000"/>
          <a:stretch xmlns:a="http://schemas.openxmlformats.org/drawingml/2006/main"/>
        </p:blipFill>
        <p:spPr>
          <a:xfrm xmlns:a="http://schemas.openxmlformats.org/drawingml/2006/main">
            <a:off x="495300" y="6115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2" name="HALEVERSE brand">
            <a:extLst xmlns:a="http://schemas.openxmlformats.org/drawingml/2006/main">
              <a:ext uri="{FF2B5EF4-FFF2-40B4-BE49-F238E27FC236}">
                <a16:creationId xmlns:a16="http://schemas.microsoft.com/office/drawing/2014/main" id="{0A9A17C9-D2CF-4B25-B806-FF11084B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817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HALEVERSE</a:t>
            </a:r>
          </a:p>
        </p:txBody>
      </p:sp>
    </p:spTree>
    <p:extLst>
      <p:ext uri="{BB962C8B-B14F-4D97-AF65-F5344CB8AC3E}">
        <p14:creationId xmlns:p14="http://schemas.microsoft.com/office/powerpoint/2010/main" val="77909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4236C7-488C-43CE-96E2-0C443C87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COBERTURA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B9511-2308-4405-8E3C-595F2E19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Gestión operativa en una sola plataforma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A3A62-8C6D-4B26-87EC-A657CEC4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La configuración y activación de módulos se acuerda según las necesidades de cada organización.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8431B-507C-49DC-BCAD-4F5216A2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9A4C2-3BF4-4FB3-B7F5-2BA334AE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2571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D6F5C-6D0A-4883-9F55-BAD2F917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2571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32DC7-E065-4C36-8466-CF183DBF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Organizaciones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0B304-4BED-45F6-833A-FA23EB56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Sedes, ECA, CAT, áreas, usuarios y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78340-4E4A-490D-B70C-8511F5CC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38375"/>
            <a:ext cx="2571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9C2C8-E6C1-4A67-9304-5A116C08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38375"/>
            <a:ext cx="2571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8F0F2-75B8-46A7-8611-0B2B3694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71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Recicladores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62421-12BC-48A5-8177-3E294FBF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0037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Censo, documentos y actividad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DB382-6EED-4EDA-BC99-319FAA49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2571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96224-709C-499E-9E0C-E0E80CAE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2571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05BC5-0B7C-481F-B9C0-E7B7831F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Rutas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E8605-9A79-4CAC-9BBC-923844A9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037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Planificación, asignaciones y cobertura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053E4-A459-4140-9EBB-D4795B64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38375"/>
            <a:ext cx="2571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96031E-F003-43AB-9E62-E6BB1498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38375"/>
            <a:ext cx="2571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E9543-49CD-4B42-897D-0B9297A9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71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Operación ECA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5100F-074D-44D8-BA10-973AAF57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00037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Pesaje, clasificación, rechazo y lotes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6F897-EA0C-4EC3-BB6F-E372D371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29075"/>
            <a:ext cx="2571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B5F64A-20A9-42D0-BB84-1164412D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29075"/>
            <a:ext cx="2571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538304-90D2-4FA3-8D61-EA4CEA98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Liquidación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D1ADA-9057-42D5-887C-BC6441FB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9107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Servicios, reglas, aprobación y pago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B39F23-EDE1-44EA-8991-1C78DA7F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29075"/>
            <a:ext cx="2571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08675-6E6C-46D3-9704-9D463B44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29075"/>
            <a:ext cx="2571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BE2803-3292-4550-B4C6-BA26DCE7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362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Comercial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316914-3FB3-4D4E-9B97-BB556435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79107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Inventario, ventas, factura y compradores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726928-BD3A-4F2D-B434-B5DB25CD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29075"/>
            <a:ext cx="2571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E3141B-C614-41DB-A0C9-A6D2A29B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29075"/>
            <a:ext cx="2571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28BEC2-EBE2-46DB-BC4A-E71F5634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Documentación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7FFDA8-44FC-4453-9076-EA3542F2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9107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Documentos, visitas y evidencias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2D080C-A849-43D3-9B52-AE0F7ABB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029075"/>
            <a:ext cx="2571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892811-8B76-46E8-8ED9-B2B90EA3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029075"/>
            <a:ext cx="2571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BAE52A-4DF6-4712-B7E4-91ED1884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62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Portales públicos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B68BAD-C05C-469D-89F2-DF6185A1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79107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Rutas, ECA, PQR, tarifas e indicadores</a:t>
            </a:r>
          </a:p>
        </p:txBody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F7D9DD-7778-49C3-90FC-82607DC36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b1b8b32b044db"/>
          <a:srcRect xmlns:a="http://schemas.openxmlformats.org/drawingml/2006/main" l="28000" t="28000" r="28000" b="28000"/>
          <a:stretch xmlns:a="http://schemas.openxmlformats.org/drawingml/2006/main"/>
        </p:blipFill>
        <p:spPr>
          <a:xfrm xmlns:a="http://schemas.openxmlformats.org/drawingml/2006/main">
            <a:off x="495300" y="6115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9" name="HALEVERSE brand">
            <a:extLst xmlns:a="http://schemas.openxmlformats.org/drawingml/2006/main">
              <a:ext uri="{FF2B5EF4-FFF2-40B4-BE49-F238E27FC236}">
                <a16:creationId xmlns:a16="http://schemas.microsoft.com/office/drawing/2014/main" id="{503BB861-361E-4C2B-A5C9-D01F0E47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817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HALEVERSE</a:t>
            </a:r>
          </a:p>
        </p:txBody>
      </p:sp>
    </p:spTree>
    <p:extLst>
      <p:ext uri="{BB962C8B-B14F-4D97-AF65-F5344CB8AC3E}">
        <p14:creationId xmlns:p14="http://schemas.microsoft.com/office/powerpoint/2010/main" val="1280234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ACD86-CC97-438E-B7D6-A4CF7B4B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TRABAJO DIGNO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51183-5BDE-4670-9F0C-3BFF766D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Información clara para respaldar el trabajo del reciclador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F549E-C7E8-41C5-8A43-6B1C32A2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El alcance contempla actividad, cálculos y soportes para facilitar la revisión del equipo.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5B26D-21E5-4077-81AA-5E0EB32F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F45EE-04B9-4BF5-B0D8-795B540A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3476625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A1ED8-BAFF-4D17-AD80-B986BDA8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ACTIVIDAD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FA35B-03F1-407C-AC44-C5B07E83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Actividad documentada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5CDA2-DC18-4910-AC49-A88E35C6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290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Ruta, jornada, material y evidencia permanecen ligados a la persona.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3D7EB-96F4-45DC-A574-66160D86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533650"/>
            <a:ext cx="3476625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D9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6BE5F-16DA-4066-80C2-AF48B7CD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003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LIQUIDACIÓN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6A2D4-8F7F-476A-97B1-B234B71D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62350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Cálculo transparente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1D0A8-7D2C-4F90-92C7-CC6ABC5E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05300"/>
            <a:ext cx="290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Peso, tarifa, incentivos, ajustes y aprobación quedan visibles.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48334-5075-4FF2-AB13-D2ECF9D7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33650"/>
            <a:ext cx="3476625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8E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161C6-7FA8-4BF5-8195-BF187A8B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SOPORTES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08B6B-BEC2-46CC-ACC5-42A7994D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2350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Historial consultable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101B4-AE81-4353-8C5D-377F65FC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290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Documentos y comprobantes asociados a cada proceso.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24FD4-89D0-4DAF-9A3D-EE6CEBC545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e05f8de78457e"/>
          <a:srcRect xmlns:a="http://schemas.openxmlformats.org/drawingml/2006/main" l="28000" t="28000" r="28000" b="28000"/>
          <a:stretch xmlns:a="http://schemas.openxmlformats.org/drawingml/2006/main"/>
        </p:blipFill>
        <p:spPr>
          <a:xfrm xmlns:a="http://schemas.openxmlformats.org/drawingml/2006/main">
            <a:off x="495300" y="6115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19" name="HALEVERSE brand">
            <a:extLst xmlns:a="http://schemas.openxmlformats.org/drawingml/2006/main">
              <a:ext uri="{FF2B5EF4-FFF2-40B4-BE49-F238E27FC236}">
                <a16:creationId xmlns:a16="http://schemas.microsoft.com/office/drawing/2014/main" id="{9ABE2A29-1669-4624-8036-BD2B6A64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817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HALEVERSE</a:t>
            </a:r>
          </a:p>
        </p:txBody>
      </p:sp>
    </p:spTree>
    <p:extLst>
      <p:ext uri="{BB962C8B-B14F-4D97-AF65-F5344CB8AC3E}">
        <p14:creationId xmlns:p14="http://schemas.microsoft.com/office/powerpoint/2010/main" val="2315317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ACD86-CC97-438E-B7D6-A4CF7B4B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BENEFICIOS TECNOLÓGICOS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51183-5BDE-4670-9F0C-3BFF766D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Beneficios tecnológicos para su organización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F549E-C7E8-41C5-8A43-6B1C32A2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Una operación mejor organizada facilita el trabajo del equipo y el seguimiento de resultados.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5B26D-21E5-4077-81AA-5E0EB32F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F45EE-04B9-4BF5-B0D8-795B540A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3476625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A1ED8-BAFF-4D17-AD80-B986BDA8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ORDEN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FA35B-03F1-407C-AC44-C5B07E83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Información centralizada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5CDA2-DC18-4910-AC49-A88E35C6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290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Registros relacionados para facilitar la consulta y el control de su ECA.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3D7EB-96F4-45DC-A574-66160D86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533650"/>
            <a:ext cx="3476625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D9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6BE5F-16DA-4066-80C2-AF48B7CD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003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EFICIENCIA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6A2D4-8F7F-476A-97B1-B234B71D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62350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Menos tareas repetitivas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1D0A8-7D2C-4F90-92C7-CC6ABC5E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05300"/>
            <a:ext cx="290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Flujos configurados para reducir digitación y reconstrucción manual.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48334-5075-4FF2-AB13-D2ECF9D7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33650"/>
            <a:ext cx="3476625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8E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161C6-7FA8-4BF5-8195-BF187A8B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DECISIONES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08B6B-BEC2-46CC-ACC5-42A7994D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2350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Información para gestionar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101B4-AE81-4353-8C5D-377F65FC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290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Indicadores y documentos para revisar resultados y priorizar acciones.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4E9B9-627B-44B9-8D52-10DF7FAD67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b31a2649547c8"/>
          <a:srcRect xmlns:a="http://schemas.openxmlformats.org/drawingml/2006/main" l="28000" t="28000" r="28000" b="28000"/>
          <a:stretch xmlns:a="http://schemas.openxmlformats.org/drawingml/2006/main"/>
        </p:blipFill>
        <p:spPr>
          <a:xfrm xmlns:a="http://schemas.openxmlformats.org/drawingml/2006/main">
            <a:off x="495300" y="6115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19" name="HALEVERSE brand">
            <a:extLst xmlns:a="http://schemas.openxmlformats.org/drawingml/2006/main">
              <a:ext uri="{FF2B5EF4-FFF2-40B4-BE49-F238E27FC236}">
                <a16:creationId xmlns:a16="http://schemas.microsoft.com/office/drawing/2014/main" id="{C6B2F67C-BF2B-4CB3-B31C-14ED6B4E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817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HALEVERSE</a:t>
            </a:r>
          </a:p>
        </p:txBody>
      </p:sp>
    </p:spTree>
    <p:extLst>
      <p:ext uri="{BB962C8B-B14F-4D97-AF65-F5344CB8AC3E}">
        <p14:creationId xmlns:p14="http://schemas.microsoft.com/office/powerpoint/2010/main" val="231531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B6B91F-0F71-42D0-ADF7-84387DAE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INTEGRACIONES A MEDIDA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AEA74-63E7-4E02-B28F-3CF1F34F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Integraciones según las necesidades de su operación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F2198-691E-4163-BB06-A57D2293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Evaluamos cada conexión según su alcance, disponibilidad del proveedor y pruebas técnicas.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03796-DF79-4215-8618-62222B77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A4AB9-4059-4685-ADF0-0F576189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47950"/>
            <a:ext cx="2952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0EC21-3E37-4B53-9250-69FC2CB1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241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ctr">
              <a:buNone/>
              <a:defRPr sz="2700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ECAS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A9C6F-90BF-4C73-83EC-89DDF226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099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Conexiones por etapas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6A59D-FF50-4ABC-8A43-578DC179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936CE-9B12-4D0E-BCE8-4253EEF3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SUI / RUPS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9CDDE-58CC-4A22-B1CA-620C068A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9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E1D96-8F56-4F86-BBA7-1A1845AF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DIAN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E5597-7433-4D8C-A4F2-9672C928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00650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E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DC3CA4-1AC7-4D96-BB8D-522A1DC0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721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Empresas de aseo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6D1F1-7B43-40D1-9DDD-902DF361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219700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9E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09DBA-4C54-46BE-9598-C8029F08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391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Básculas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B8C13-1F62-41DA-8715-A755DC70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FF1B2-46A0-4DC7-BCE0-CA337EED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91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Bancos / pagos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B9956-5068-427D-966A-021F8474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9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63D333-724B-4324-B915-44937B7B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1719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PILA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F7A8A-41E3-471F-82D8-875998A6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66950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E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6D51B6-4A62-4CB3-8072-CFE3F3D9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384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Mapas y rutas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82FC84-63B3-42A2-B328-6A60D7AF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62100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3E3800-3F9C-46F8-933F-8AB82228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33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Email / WhatsApp</a:t>
            </a:r>
          </a:p>
        </p:txBody>
      </p:sp>
      <p:cxnSp>
        <p:nvCxn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B51855F-2CF4-4B3A-B577-852390A8D20B}"/>
              </a:ext>
            </a:extLst>
          </p:cNvPr>
          <p:cNvCxnSpPr/>
          <p:nvPr/>
        </p:nvCxnSpPr>
        <p:spPr>
          <a:xfrm xmlns:a="http://schemas.openxmlformats.org/drawingml/2006/main">
            <a:off x="2362200" y="2581275"/>
            <a:ext cx="2257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B0A9"/>
            </a:solidFill>
            <a:prstDash val="solid"/>
          </a:ln>
        </p:spPr>
      </p:cxnSp>
      <p:cxnSp>
        <p:nvCxn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6310D31-26FF-47EA-BDEC-A25D33BABD40}"/>
              </a:ext>
            </a:extLst>
          </p:cNvPr>
          <p:cNvCxnSpPr/>
          <p:nvPr/>
        </p:nvCxnSpPr>
        <p:spPr>
          <a:xfrm xmlns:a="http://schemas.openxmlformats.org/drawingml/2006/main">
            <a:off x="2362200" y="4314825"/>
            <a:ext cx="2257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B0A9"/>
            </a:solidFill>
            <a:prstDash val="solid"/>
          </a:ln>
        </p:spPr>
      </p:cxnSp>
      <p:cxnSp>
        <p:nvCxn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EEAD38B-AE87-431B-AE02-75577AD9EA28}"/>
              </a:ext>
            </a:extLst>
          </p:cNvPr>
          <p:cNvCxnSpPr/>
          <p:nvPr/>
        </p:nvCxnSpPr>
        <p:spPr>
          <a:xfrm xmlns:a="http://schemas.openxmlformats.org/drawingml/2006/main">
            <a:off x="7572375" y="2581275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B0A9"/>
            </a:solidFill>
            <a:prstDash val="solid"/>
          </a:ln>
        </p:spPr>
      </p:cxnSp>
      <p:cxnSp>
        <p:nvCxn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9C2FC75-3CEF-4D12-9700-2BE319C35E7B}"/>
              </a:ext>
            </a:extLst>
          </p:cNvPr>
          <p:cNvCxnSpPr/>
          <p:nvPr/>
        </p:nvCxnSpPr>
        <p:spPr>
          <a:xfrm xmlns:a="http://schemas.openxmlformats.org/drawingml/2006/main">
            <a:off x="7572375" y="4314825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B0A9"/>
            </a:solidFill>
            <a:prstDash val="solid"/>
          </a:ln>
        </p:spPr>
      </p:cxnSp>
      <p:cxnSp>
        <p:nvCxn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7CDB1DB-B45D-48F9-82B9-396F5AA6274F}"/>
              </a:ext>
            </a:extLst>
          </p:cNvPr>
          <p:cNvCxnSpPr/>
          <p:nvPr/>
        </p:nvCxnSpPr>
        <p:spPr>
          <a:xfrm xmlns:a="http://schemas.openxmlformats.org/drawingml/2006/main">
            <a:off x="6086475" y="4410075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B0A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166FBD-8B70-4DB3-A69B-9F411D20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886450"/>
            <a:ext cx="4572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DCBC13-AECB-444D-B78C-BEDDB39B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934075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900">
                <a:solidFill>
                  <a:srgbClr val="0A2540"/>
                </a:solidFill>
              </a:defRPr>
            </a:defPPr>
            <a:lvl1pPr>
              <a:buNone/>
              <a:defRPr sz="900">
                <a:solidFill>
                  <a:srgbClr val="0A2540"/>
                </a:solidFill>
              </a:defRPr>
            </a:lvl1pPr>
            <a:lvl2pPr>
              <a:buNone/>
              <a:defRPr sz="900">
                <a:solidFill>
                  <a:srgbClr val="0A2540"/>
                </a:solidFill>
              </a:defRPr>
            </a:lvl2pPr>
            <a:lvl3pPr>
              <a:buNone/>
              <a:defRPr sz="900">
                <a:solidFill>
                  <a:srgbClr val="0A2540"/>
                </a:solidFill>
              </a:defRPr>
            </a:lvl3pPr>
            <a:lvl4pPr>
              <a:buNone/>
              <a:defRPr sz="900">
                <a:solidFill>
                  <a:srgbClr val="0A2540"/>
                </a:solidFill>
              </a:defRPr>
            </a:lvl4pPr>
            <a:lvl5pPr>
              <a:buNone/>
              <a:defRPr sz="900">
                <a:solidFill>
                  <a:srgbClr val="0A2540"/>
                </a:solidFill>
              </a:defRPr>
            </a:lvl5pPr>
            <a:lvl6pPr>
              <a:buNone/>
              <a:defRPr sz="900">
                <a:solidFill>
                  <a:srgbClr val="0A2540"/>
                </a:solidFill>
              </a:defRPr>
            </a:lvl6pPr>
            <a:lvl7pPr>
              <a:buNone/>
              <a:defRPr sz="900">
                <a:solidFill>
                  <a:srgbClr val="0A2540"/>
                </a:solidFill>
              </a:defRPr>
            </a:lvl7pPr>
            <a:lvl8pPr>
              <a:buNone/>
              <a:defRPr sz="900">
                <a:solidFill>
                  <a:srgbClr val="0A2540"/>
                </a:solidFill>
              </a:defRPr>
            </a:lvl8pPr>
            <a:lvl9pPr>
              <a:buNone/>
              <a:defRPr sz="900"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CONECTORES SUJETOS A VALIDACIÓN TÉCNICA</a:t>
            </a:r>
          </a:p>
        </p:txBody>
      </p:sp>
      <p:pic>
        <p:nvPic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F7718F1-B4AD-4707-8BC6-FF76FEB9FC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e49ffd36f404a"/>
          <a:srcRect xmlns:a="http://schemas.openxmlformats.org/drawingml/2006/main" l="28000" t="28000" r="28000" b="28000"/>
          <a:stretch xmlns:a="http://schemas.openxmlformats.org/drawingml/2006/main"/>
        </p:blipFill>
        <p:spPr>
          <a:xfrm xmlns:a="http://schemas.openxmlformats.org/drawingml/2006/main">
            <a:off x="495300" y="6115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116" name="HALEVERSE brand">
            <a:extLst xmlns:a="http://schemas.openxmlformats.org/drawingml/2006/main">
              <a:ext uri="{FF2B5EF4-FFF2-40B4-BE49-F238E27FC236}">
                <a16:creationId xmlns:a16="http://schemas.microsoft.com/office/drawing/2014/main" id="{F8BBC9DA-83A3-4C18-95F4-F7FC1D92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817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HALEVERSE</a:t>
            </a:r>
          </a:p>
        </p:txBody>
      </p:sp>
    </p:spTree>
    <p:extLst>
      <p:ext uri="{BB962C8B-B14F-4D97-AF65-F5344CB8AC3E}">
        <p14:creationId xmlns:p14="http://schemas.microsoft.com/office/powerpoint/2010/main" val="2702414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63AF26-BFAA-470E-85B1-5C2C72BE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RENOVACIÓN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33C1D-3DCB-4B1D-84E0-3F2AFA52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Renovación de su página web institucional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A2142-0BC6-4EB5-A208-12DD9D84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HALEVERSE moderniza su presencia digital para presentar servicios y facilitar la atención.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A793B-9290-4C73-9064-045DB14E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94D97-64AA-49DF-B77A-84A0BC7C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5429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AB85A-3095-4BFC-B8E1-9A6B6FD6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143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D7ABD-22FB-423E-A76C-A853BB79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Identidad propia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C1EBB-6AE4-45E6-84A4-A07C0929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Diseño con su marca, servicios e historias de su organización.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3997D-9B15-40B8-949C-B0206428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33675"/>
            <a:ext cx="1504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68B9C-3D91-4414-99F0-45DA0732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8130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Imagen profesional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C6872-3704-47B2-8CEE-22A4C60C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38375"/>
            <a:ext cx="5429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59969-B7A8-4DED-839B-EDCF0D5C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38375"/>
            <a:ext cx="1143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5A950-4065-46A9-A3B6-6C9FB5FE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669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Información operativa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281B1-F22E-468A-8F24-40604736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86075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Cobertura, rutas, horarios, sedes ECA y contactos.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6CFB4-6E27-4FAD-A19F-DA7CE728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33675"/>
            <a:ext cx="1504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94449-A2EC-473E-8D82-A2DBD30C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8130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Datos actualizados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97ECC-9393-4BBE-B0E6-4512DB44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5429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B1E2CC-4682-4D82-B8F0-9C027449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1143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A2449-F831-4F5B-844B-EABA674A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Atención y documentos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96F70-D41C-4186-8892-4D225C90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95825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Documentos aprobados, novedades y recepción de PQR.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6E7B6-286E-4DA1-9CB1-5371A6BC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43425"/>
            <a:ext cx="1504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8E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A7BDB-F559-45B9-93C9-5348981D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9105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Canales de atención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C7E37B-928F-43C7-8EF9-971BDDDE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5429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570923-44EC-4FEA-A07B-94F22848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1143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D46F7A-B9A7-474A-99EE-9FDB76F3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767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Experiencia digital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4F1FB6-EC23-4922-B367-99C3FB93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95825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Diseño para celulares y computadores, rendimiento y navegación clara.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4B9495-24FD-47A4-AA56-1E8796D2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43425"/>
            <a:ext cx="1504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E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6582EE-2068-4728-A9AE-726196FE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59105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Diseño adaptable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4BAA11-2857-46E3-9129-1F2C38F715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9d5bce13e4668"/>
          <a:srcRect xmlns:a="http://schemas.openxmlformats.org/drawingml/2006/main" l="28000" t="28000" r="28000" b="28000"/>
          <a:stretch xmlns:a="http://schemas.openxmlformats.org/drawingml/2006/main"/>
        </p:blipFill>
        <p:spPr>
          <a:xfrm xmlns:a="http://schemas.openxmlformats.org/drawingml/2006/main">
            <a:off x="495300" y="6115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1" name="HALEVERSE brand">
            <a:extLst xmlns:a="http://schemas.openxmlformats.org/drawingml/2006/main">
              <a:ext uri="{FF2B5EF4-FFF2-40B4-BE49-F238E27FC236}">
                <a16:creationId xmlns:a16="http://schemas.microsoft.com/office/drawing/2014/main" id="{321A98DB-A7F7-4A93-BA4C-E3026627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817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HALEVERSE</a:t>
            </a:r>
          </a:p>
        </p:txBody>
      </p:sp>
    </p:spTree>
    <p:extLst>
      <p:ext uri="{BB962C8B-B14F-4D97-AF65-F5344CB8AC3E}">
        <p14:creationId xmlns:p14="http://schemas.microsoft.com/office/powerpoint/2010/main" val="6856655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68920F-B58B-488F-AC30-86763FBD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TECNOLOGÍA APLICADA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476E6-378A-488E-AA9A-7A352111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Tecnología al servicio de su operación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71AE8-DA13-44C3-85BB-7D2D6CEB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Priorizamos herramientas que faciliten el trabajo diario y la evolución de su organización.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106D4-7BF1-4ED5-A4DE-3810000D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E8A9C-1E7F-481E-9735-3CFCCC5F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581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96573-987F-4103-8DC4-650A7FF0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ACCESO 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32B88-BC55-4A16-A6C0-C362CCC7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574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Consulta desde distintos dispositivos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40744-B44A-4A17-A5F2-E93B7D21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581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62AEB-8453-4A84-982D-219B247E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AUTOMATIZACIÓN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8A5E8-6B59-45ED-99B8-21A2C822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52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Procesos con menos tareas manuales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6A448-7E92-4C88-AB7A-947F5749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581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E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A23C7-1D15-4B84-9B6B-F7447FD5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DATOS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9FCE4-992D-455B-B4FB-02E1B038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481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Registros relacionados y consultables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5F5AB-C431-41E8-948C-4B8A4209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581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E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258BF-D0B1-4FBF-97DE-2FC3B15B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25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EVOLUCIÓN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84553-775C-475D-A0CA-D3F71BB5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435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Módulos e integraciones por etapas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35B96-F823-42E8-855C-7C50B247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40957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ED26C-9ABD-4D87-95F9-1417CBCA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Enfoque de HALEVERSE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B05CC0-AF5D-4566-AF14-A94C3627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81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22E6D-B301-4BD7-B8D5-599565BF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Configuración por organización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6ECF55-079B-468B-B372-CA54314B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290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1FDD6-59E5-405E-8A0E-4858D8FF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29025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Accesos según responsabilidades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427F2-3151-4A98-97CF-8A393D6A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76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22330-0E2B-407E-872F-3E3BF3CF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76700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Historial y evidencias consultables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ADB955-1BC4-47F9-A28E-E57FF797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243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5544E5-11F6-45F5-9325-18039FF6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24375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Integraciones con alcance definido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DDD064-E84F-489D-B1A3-77B80F54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72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DEBFE1-C6B8-4080-B236-E2B3C55F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72050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Indicadores para la gestión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ED2D71-CAFD-4956-BBDA-D762881BE9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d7186954c4df1"/>
          <a:srcRect xmlns:a="http://schemas.openxmlformats.org/drawingml/2006/main" l="28000" t="28000" r="28000" b="28000"/>
          <a:stretch xmlns:a="http://schemas.openxmlformats.org/drawingml/2006/main"/>
        </p:blipFill>
        <p:spPr>
          <a:xfrm xmlns:a="http://schemas.openxmlformats.org/drawingml/2006/main">
            <a:off x="495300" y="6115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1" name="HALEVERSE brand">
            <a:extLst xmlns:a="http://schemas.openxmlformats.org/drawingml/2006/main">
              <a:ext uri="{FF2B5EF4-FFF2-40B4-BE49-F238E27FC236}">
                <a16:creationId xmlns:a16="http://schemas.microsoft.com/office/drawing/2014/main" id="{D1B535B4-F326-4CEA-9E75-8CEAEDD0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817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HALEVERSE</a:t>
            </a:r>
          </a:p>
        </p:txBody>
      </p:sp>
    </p:spTree>
    <p:extLst>
      <p:ext uri="{BB962C8B-B14F-4D97-AF65-F5344CB8AC3E}">
        <p14:creationId xmlns:p14="http://schemas.microsoft.com/office/powerpoint/2010/main" val="6178993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63AF26-BFAA-470E-85B1-5C2C72BE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SERVICIOS DE HALEVERSE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33C1D-3DCB-4B1D-84E0-3F2AFA52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Servicios para su renovación tecnológica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A2142-0BC6-4EB5-A208-12DD9D84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Combinamos plataforma, presencia web e implementación con acompañamiento del equipo.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A793B-9290-4C73-9064-045DB14E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94D97-64AA-49DF-B77A-84A0BC7C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5429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AB85A-3095-4BFC-B8E1-9A6B6FD6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143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D7ABD-22FB-423E-A76C-A853BB79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Plataforma de gestión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C1EBB-6AE4-45E6-84A4-A07C0929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Configuración de módulos y soporte según alcance.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3997D-9B15-40B8-949C-B0206428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33675"/>
            <a:ext cx="1504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68B9C-3D91-4414-99F0-45DA0732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8130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Gestión operativa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C6872-3704-47B2-8CEE-22A4C60C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38375"/>
            <a:ext cx="5429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59969-B7A8-4DED-839B-EDCF0D5C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38375"/>
            <a:ext cx="1143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5A950-4065-46A9-A3B6-6C9FB5FE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669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Renovación 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281B1-F22E-468A-8F24-40604736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86075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Rediseño de su sitio y canales de atención digital.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6CFB4-6E27-4FAD-A19F-DA7CE728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33675"/>
            <a:ext cx="1504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94449-A2EC-473E-8D82-A2DBD30C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8130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Presencia digital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97ECC-9393-4BBE-B0E6-4512DB44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5429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B1E2CC-4682-4D82-B8F0-9C027449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1143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A2449-F831-4F5B-844B-EABA674A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Integración y datos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96F70-D41C-4186-8892-4D225C90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95825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Evaluación de conexiones, migración y calidad de información.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6E7B6-286E-4DA1-9CB1-5371A6BC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43425"/>
            <a:ext cx="1504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8E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A7BDB-F559-45B9-93C9-5348981D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9105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Alcance a medida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C7E37B-928F-43C7-8EF9-971BDDDE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5429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570923-44EC-4FEA-A07B-94F22848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1143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D46F7A-B9A7-474A-99EE-9FDB76F3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767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Capacitación y soporte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4F1FB6-EC23-4922-B367-99C3FB93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95825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Formación del equipo y acompañamiento en la adopción.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4B9495-24FD-47A4-AA56-1E8796D2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43425"/>
            <a:ext cx="1504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E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6582EE-2068-4728-A9AE-726196FE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59105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Adopción y soporte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242E4D-1509-4023-82AF-6AEC94C4C6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ee2c50f2d491a"/>
          <a:srcRect xmlns:a="http://schemas.openxmlformats.org/drawingml/2006/main" l="28000" t="28000" r="28000" b="28000"/>
          <a:stretch xmlns:a="http://schemas.openxmlformats.org/drawingml/2006/main"/>
        </p:blipFill>
        <p:spPr>
          <a:xfrm xmlns:a="http://schemas.openxmlformats.org/drawingml/2006/main">
            <a:off x="495300" y="6115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1" name="HALEVERSE brand">
            <a:extLst xmlns:a="http://schemas.openxmlformats.org/drawingml/2006/main">
              <a:ext uri="{FF2B5EF4-FFF2-40B4-BE49-F238E27FC236}">
                <a16:creationId xmlns:a16="http://schemas.microsoft.com/office/drawing/2014/main" id="{14E51163-A323-4DD3-9ED4-1B543556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817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HALEVERSE</a:t>
            </a:r>
          </a:p>
        </p:txBody>
      </p:sp>
    </p:spTree>
    <p:extLst>
      <p:ext uri="{BB962C8B-B14F-4D97-AF65-F5344CB8AC3E}">
        <p14:creationId xmlns:p14="http://schemas.microsoft.com/office/powerpoint/2010/main" val="6856655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CFF17D-FEEB-41D0-B664-46C3A40A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IMPLEMENTACIÓN GRADUAL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50C1B-5A6F-4C5C-9300-632B8D65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Una implementación ajustada a su organización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B27DC-8DF3-4CF5-94A2-34988A10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Definimos prioridades y validamos el alcance antes de ampliar la operación.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A7753-3768-4F0C-8902-13F5A089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1548C-4187-4398-ADE4-D5F9EFFF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C662A-1632-44C4-B3D1-4C13DA7B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E6C31-2551-4F2D-A3CB-54905F98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193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870AD-C1AD-4788-AC11-180B81B1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Diagnóstico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A2185-07EA-4FA7-88CF-7E27E035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DAE7F3"/>
                </a:solidFill>
              </a:defRPr>
            </a:defPPr>
            <a:lvl1pPr>
              <a:buNone/>
              <a:defRPr>
                <a:solidFill>
                  <a:srgbClr val="DAE7F3"/>
                </a:solidFill>
              </a:defRPr>
            </a:lvl1pPr>
            <a:lvl2pPr>
              <a:buNone/>
              <a:defRPr>
                <a:solidFill>
                  <a:srgbClr val="DAE7F3"/>
                </a:solidFill>
              </a:defRPr>
            </a:lvl2pPr>
            <a:lvl3pPr>
              <a:buNone/>
              <a:defRPr>
                <a:solidFill>
                  <a:srgbClr val="DAE7F3"/>
                </a:solidFill>
              </a:defRPr>
            </a:lvl3pPr>
            <a:lvl4pPr>
              <a:buNone/>
              <a:defRPr>
                <a:solidFill>
                  <a:srgbClr val="DAE7F3"/>
                </a:solidFill>
              </a:defRPr>
            </a:lvl4pPr>
            <a:lvl5pPr>
              <a:buNone/>
              <a:defRPr>
                <a:solidFill>
                  <a:srgbClr val="DAE7F3"/>
                </a:solidFill>
              </a:defRPr>
            </a:lvl5pPr>
            <a:lvl6pPr>
              <a:buNone/>
              <a:defRPr>
                <a:solidFill>
                  <a:srgbClr val="DAE7F3"/>
                </a:solidFill>
              </a:defRPr>
            </a:lvl6pPr>
            <a:lvl7pPr>
              <a:buNone/>
              <a:defRPr>
                <a:solidFill>
                  <a:srgbClr val="DAE7F3"/>
                </a:solidFill>
              </a:defRPr>
            </a:lvl7pPr>
            <a:lvl8pPr>
              <a:buNone/>
              <a:defRPr>
                <a:solidFill>
                  <a:srgbClr val="DAE7F3"/>
                </a:solidFill>
              </a:defRPr>
            </a:lvl8pPr>
            <a:lvl9pPr>
              <a:buNone/>
              <a:defRPr>
                <a:solidFill>
                  <a:srgbClr val="DAE7F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D8E7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AE7F3"/>
                </a:solidFill>
                <a:latin typeface="Aptos"/>
                <a:ea typeface="Aptos"/>
                <a:cs typeface="Aptos"/>
              </a:rPr>
              <a:t>Revisamos procesos, información disponible y necesidades tecnológicas.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E02AE-0870-4071-9535-88DC6755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051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C45FE1-6265-4052-81A9-B6D8FE98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6220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1B1F7-A928-41FC-A8A7-3D4C8716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CA743-EBC8-4FA1-B280-0B9B0088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193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8E1E3F-449C-4FC6-8AAE-930BAACA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62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Piloto operativo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D9527-A874-4F58-9119-7D33A22A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90950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Validamos flujos y resultados con una ECA y datos reales.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1EB5D-FB90-4D2A-94D5-0DB8CBAF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051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7B48E-9536-4054-B1E8-8A10DF58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54220-A077-4E5F-89B0-06E918E1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8E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0FAD66-FE8D-46CD-A89D-CAE94005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193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7453C-17B1-4B71-9478-22E05F59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62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Puesta en marcha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700A16-2AC7-4B0F-B57F-528CF78D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Acordamos el alcance final, capacitamos al equipo y acompañamos el inicio.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C0F695-883C-4873-AE55-67F75066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95925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342D9C-3030-4597-A775-3E70A51C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435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Alcance acordado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958F49-B8B1-49A7-8D34-D99F35FE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49592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1B562D-6661-4C1F-91EC-BF3481F9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5435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Datos preparados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93E31-3D73-407C-A749-8A1F6B08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95925"/>
            <a:ext cx="2143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8E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8FE18B-2AEC-4BC6-B324-254AC9A4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43550"/>
            <a:ext cx="1914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Equipo capacitado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5B52B8-FFCA-4FC5-B804-8EB51D38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95925"/>
            <a:ext cx="1657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E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FB4E9C-35F5-4D65-B435-D93E6FDF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43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Seguimiento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8CC794-AEFD-49A9-BC1C-66F29B754C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fecd228df4de8"/>
          <a:srcRect xmlns:a="http://schemas.openxmlformats.org/drawingml/2006/main" l="28000" t="28000" r="28000" b="28000"/>
          <a:stretch xmlns:a="http://schemas.openxmlformats.org/drawingml/2006/main"/>
        </p:blipFill>
        <p:spPr>
          <a:xfrm xmlns:a="http://schemas.openxmlformats.org/drawingml/2006/main">
            <a:off x="495300" y="6115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2" name="HALEVERSE brand">
            <a:extLst xmlns:a="http://schemas.openxmlformats.org/drawingml/2006/main">
              <a:ext uri="{FF2B5EF4-FFF2-40B4-BE49-F238E27FC236}">
                <a16:creationId xmlns:a16="http://schemas.microsoft.com/office/drawing/2014/main" id="{164F6D6C-A48F-4F95-BF43-68041D43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817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HALEVERSE</a:t>
            </a:r>
          </a:p>
        </p:txBody>
      </p:sp>
    </p:spTree>
    <p:extLst>
      <p:ext uri="{BB962C8B-B14F-4D97-AF65-F5344CB8AC3E}">
        <p14:creationId xmlns:p14="http://schemas.microsoft.com/office/powerpoint/2010/main" val="779095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B7DD8A-3FCB-4AA8-9155-157BB9A0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ALCANCE Y VALIDACIÓN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D7051-20D8-4024-86A6-A09ED2E6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Activación por etapas y criterios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9B12C-481F-4D4A-BCDA-C554AB99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La demostración y el piloto permiten confirmar disponibilidad, ajustes e integraciones.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FABCA-BA55-40F9-89D4-55BA7A92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CC2EF-DC3E-4318-A48C-54AE9738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3476625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7CB38-EB98-4A9A-88E9-2B84DBE9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02D2C-C4EF-4624-B94D-0D820902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1A3E2-082E-4859-B8C6-F7323CD4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Base implementada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46FC7-1164-4E80-8543-CCCAFAAB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004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73979-79A7-4AD9-BA49-65D6316F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Aplicación 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43889-0388-4000-B551-5A9F0DF5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7613F-E84D-4E92-BEFA-D8572D9E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Información territorial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C6A03-EDF9-4C4D-AA2C-9745E1FF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0394A-E018-4CEC-8B37-12368F90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Rutas y liquidaciones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D1C1A-1D92-4CFF-B1DA-4503C247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D6CAB-A7EE-48FA-A1A7-8D75E927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Portales públicos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91310-1708-4160-BFE0-AF549ACC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66950"/>
            <a:ext cx="3476625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6B2D20-31BD-4DE7-A205-DD9B396B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765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3C0B5-80F4-4615-8947-E3044D58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2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PILOTO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9946F-564A-4FDA-AB40-3CAEC53D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0480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Validación operativa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5B153-D11E-4EA5-8C59-AA17FB2C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8004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A3123A-14E7-4ADD-A029-2C29FF46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90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Accesos y responsabilidades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CA6FB8-E85C-40AB-8602-4F248F62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1814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D6A7D-DC38-4E69-82AC-9393F3EB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71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Datos reales y pesajes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9B6A83-18F5-4E33-99F3-046D8B87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5624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673AB-1A3A-43AE-A99A-4161DDCF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52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Uso en campo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286A41-046E-47E4-B3C8-5D5C274C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434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BCB8DD-40B1-4FC0-A309-41772E15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33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Reglas de liquidación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E0AEFB-497E-4CDC-9C16-26BFFCF5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3476625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1DAF62-5551-405A-83C4-ED233DEE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33479A-78A0-4C3F-A1DB-1CC4B6EB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2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DESPLIEGUE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5C0760-9E03-41A7-A08C-078D4BFA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024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Servicio acordado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681F0D-0979-4A9D-B54E-49E84352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004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38D090-455C-49A3-A6EA-F0FE303D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90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5E6C6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26476"/>
                </a:solidFill>
                <a:latin typeface="Aptos Display"/>
                <a:ea typeface="Aptos Display"/>
                <a:cs typeface="Aptos Display"/>
              </a:rPr>
              <a:t>Revisión de seguridad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623E63-4E41-42EC-9DC2-593D1609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814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621F96-FB9C-40BF-BBB6-7AF84E0A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71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Integraciones contratadas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4EE543-627D-4610-AA14-3E0DA0C7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624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318C2D-E141-4BB5-9D5E-E60AB549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52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Respaldo y monitoreo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048712-0FA2-4427-8D0E-E4359783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434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B981"/>
                </a:solidFill>
              </a:defRPr>
            </a:defPPr>
            <a:lvl1pPr>
              <a:buNone/>
              <a:defRPr>
                <a:solidFill>
                  <a:srgbClr val="10B981"/>
                </a:solidFill>
              </a:defRPr>
            </a:lvl1pPr>
            <a:lvl2pPr>
              <a:buNone/>
              <a:defRPr>
                <a:solidFill>
                  <a:srgbClr val="10B981"/>
                </a:solidFill>
              </a:defRPr>
            </a:lvl2pPr>
            <a:lvl3pPr>
              <a:buNone/>
              <a:defRPr>
                <a:solidFill>
                  <a:srgbClr val="10B981"/>
                </a:solidFill>
              </a:defRPr>
            </a:lvl3pPr>
            <a:lvl4pPr>
              <a:buNone/>
              <a:defRPr>
                <a:solidFill>
                  <a:srgbClr val="10B981"/>
                </a:solidFill>
              </a:defRPr>
            </a:lvl4pPr>
            <a:lvl5pPr>
              <a:buNone/>
              <a:defRPr>
                <a:solidFill>
                  <a:srgbClr val="10B981"/>
                </a:solidFill>
              </a:defRPr>
            </a:lvl5pPr>
            <a:lvl6pPr>
              <a:buNone/>
              <a:defRPr>
                <a:solidFill>
                  <a:srgbClr val="10B981"/>
                </a:solidFill>
              </a:defRPr>
            </a:lvl6pPr>
            <a:lvl7pPr>
              <a:buNone/>
              <a:defRPr>
                <a:solidFill>
                  <a:srgbClr val="10B981"/>
                </a:solidFill>
              </a:defRPr>
            </a:lvl7pPr>
            <a:lvl8pPr>
              <a:buNone/>
              <a:defRPr>
                <a:solidFill>
                  <a:srgbClr val="10B981"/>
                </a:solidFill>
              </a:defRPr>
            </a:lvl8pPr>
            <a:lvl9pPr>
              <a:buNone/>
              <a:defRPr>
                <a:solidFill>
                  <a:srgbClr val="10B981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A8F11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532830-F3CA-493C-A8BE-52B905A8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33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26476"/>
                </a:solidFill>
              </a:defRPr>
            </a:defPPr>
            <a:lvl1pPr>
              <a:buNone/>
              <a:defRPr>
                <a:solidFill>
                  <a:srgbClr val="526476"/>
                </a:solidFill>
              </a:defRPr>
            </a:lvl1pPr>
            <a:lvl2pPr>
              <a:buNone/>
              <a:defRPr>
                <a:solidFill>
                  <a:srgbClr val="526476"/>
                </a:solidFill>
              </a:defRPr>
            </a:lvl2pPr>
            <a:lvl3pPr>
              <a:buNone/>
              <a:defRPr>
                <a:solidFill>
                  <a:srgbClr val="526476"/>
                </a:solidFill>
              </a:defRPr>
            </a:lvl3pPr>
            <a:lvl4pPr>
              <a:buNone/>
              <a:defRPr>
                <a:solidFill>
                  <a:srgbClr val="526476"/>
                </a:solidFill>
              </a:defRPr>
            </a:lvl4pPr>
            <a:lvl5pPr>
              <a:buNone/>
              <a:defRPr>
                <a:solidFill>
                  <a:srgbClr val="526476"/>
                </a:solidFill>
              </a:defRPr>
            </a:lvl5pPr>
            <a:lvl6pPr>
              <a:buNone/>
              <a:defRPr>
                <a:solidFill>
                  <a:srgbClr val="526476"/>
                </a:solidFill>
              </a:defRPr>
            </a:lvl6pPr>
            <a:lvl7pPr>
              <a:buNone/>
              <a:defRPr>
                <a:solidFill>
                  <a:srgbClr val="526476"/>
                </a:solidFill>
              </a:defRPr>
            </a:lvl7pPr>
            <a:lvl8pPr>
              <a:buNone/>
              <a:defRPr>
                <a:solidFill>
                  <a:srgbClr val="526476"/>
                </a:solidFill>
              </a:defRPr>
            </a:lvl8pPr>
            <a:lvl9pPr>
              <a:buNone/>
              <a:defRPr>
                <a:solidFill>
                  <a:srgbClr val="526476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E6C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6"/>
                </a:solidFill>
                <a:latin typeface="Aptos"/>
                <a:ea typeface="Aptos"/>
                <a:cs typeface="Aptos"/>
              </a:rPr>
              <a:t>Soporte y capacitación</a:t>
            </a:r>
          </a:p>
        </p:txBody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170126-D8A5-4252-AD9B-1EF96CD150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fbb4fb5ed4e2f"/>
          <a:srcRect xmlns:a="http://schemas.openxmlformats.org/drawingml/2006/main" l="28000" t="28000" r="28000" b="28000"/>
          <a:stretch xmlns:a="http://schemas.openxmlformats.org/drawingml/2006/main"/>
        </p:blipFill>
        <p:spPr>
          <a:xfrm xmlns:a="http://schemas.openxmlformats.org/drawingml/2006/main">
            <a:off x="495300" y="6115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43" name="HALEVERSE brand">
            <a:extLst xmlns:a="http://schemas.openxmlformats.org/drawingml/2006/main">
              <a:ext uri="{FF2B5EF4-FFF2-40B4-BE49-F238E27FC236}">
                <a16:creationId xmlns:a16="http://schemas.microsoft.com/office/drawing/2014/main" id="{DD0E2709-700B-4595-BF54-7E0FB557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817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10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HALEVERSE</a:t>
            </a:r>
          </a:p>
        </p:txBody>
      </p:sp>
    </p:spTree>
    <p:extLst>
      <p:ext uri="{BB962C8B-B14F-4D97-AF65-F5344CB8AC3E}">
        <p14:creationId xmlns:p14="http://schemas.microsoft.com/office/powerpoint/2010/main" val="2600522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316D0-F671-4A9C-BAA2-BF87BFF6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536AD-710A-4181-A4BB-3E29158E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CONVERSEMOS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FD5E2-B28C-4B27-B398-6DDA0E4F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Renovación tecnológica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para su organización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2B013-7CAC-4D0C-AF92-B7ECD3AF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DAE7F3"/>
                </a:solidFill>
              </a:defRPr>
            </a:defPPr>
            <a:lvl1pPr>
              <a:buNone/>
              <a:defRPr>
                <a:solidFill>
                  <a:srgbClr val="DAE7F3"/>
                </a:solidFill>
              </a:defRPr>
            </a:lvl1pPr>
            <a:lvl2pPr>
              <a:buNone/>
              <a:defRPr>
                <a:solidFill>
                  <a:srgbClr val="DAE7F3"/>
                </a:solidFill>
              </a:defRPr>
            </a:lvl2pPr>
            <a:lvl3pPr>
              <a:buNone/>
              <a:defRPr>
                <a:solidFill>
                  <a:srgbClr val="DAE7F3"/>
                </a:solidFill>
              </a:defRPr>
            </a:lvl3pPr>
            <a:lvl4pPr>
              <a:buNone/>
              <a:defRPr>
                <a:solidFill>
                  <a:srgbClr val="DAE7F3"/>
                </a:solidFill>
              </a:defRPr>
            </a:lvl4pPr>
            <a:lvl5pPr>
              <a:buNone/>
              <a:defRPr>
                <a:solidFill>
                  <a:srgbClr val="DAE7F3"/>
                </a:solidFill>
              </a:defRPr>
            </a:lvl5pPr>
            <a:lvl6pPr>
              <a:buNone/>
              <a:defRPr>
                <a:solidFill>
                  <a:srgbClr val="DAE7F3"/>
                </a:solidFill>
              </a:defRPr>
            </a:lvl6pPr>
            <a:lvl7pPr>
              <a:buNone/>
              <a:defRPr>
                <a:solidFill>
                  <a:srgbClr val="DAE7F3"/>
                </a:solidFill>
              </a:defRPr>
            </a:lvl7pPr>
            <a:lvl8pPr>
              <a:buNone/>
              <a:defRPr>
                <a:solidFill>
                  <a:srgbClr val="DAE7F3"/>
                </a:solidFill>
              </a:defRPr>
            </a:lvl8pPr>
            <a:lvl9pPr>
              <a:buNone/>
              <a:defRPr>
                <a:solidFill>
                  <a:srgbClr val="DAE7F3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D8E7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AE7F3"/>
                </a:solidFill>
                <a:latin typeface="Aptos"/>
                <a:ea typeface="Aptos"/>
                <a:cs typeface="Aptos"/>
              </a:rPr>
              <a:t>Demostración de 20 minutos para conocer su operación y presentar nuestra propuesta.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15DC4-6AF6-43C5-8D8D-1F3843E8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5A212-7869-47C8-AAF7-319CB5FD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C73E8-1E45-47B4-90B6-DAD96841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530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Conocer su operación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4F907-6297-40F8-951F-9FCEC147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958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E42F9-91D8-439C-97B5-350A629E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43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2ACE7-0BB3-4FDA-93BD-9977CEB4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530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Presentar la plataforma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B12C1-5A0D-4D66-A19A-5DDCC7A4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958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1A6D3-9AB6-4C8C-B3FE-CEE9980D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43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0A2540"/>
                </a:solidFill>
              </a:defRPr>
            </a:defPPr>
            <a:lvl1pPr>
              <a:buNone/>
              <a:defRPr>
                <a:solidFill>
                  <a:srgbClr val="0A2540"/>
                </a:solidFill>
              </a:defRPr>
            </a:lvl1pPr>
            <a:lvl2pPr>
              <a:buNone/>
              <a:defRPr>
                <a:solidFill>
                  <a:srgbClr val="0A2540"/>
                </a:solidFill>
              </a:defRPr>
            </a:lvl2pPr>
            <a:lvl3pPr>
              <a:buNone/>
              <a:defRPr>
                <a:solidFill>
                  <a:srgbClr val="0A2540"/>
                </a:solidFill>
              </a:defRPr>
            </a:lvl3pPr>
            <a:lvl4pPr>
              <a:buNone/>
              <a:defRPr>
                <a:solidFill>
                  <a:srgbClr val="0A2540"/>
                </a:solidFill>
              </a:defRPr>
            </a:lvl4pPr>
            <a:lvl5pPr>
              <a:buNone/>
              <a:defRPr>
                <a:solidFill>
                  <a:srgbClr val="0A2540"/>
                </a:solidFill>
              </a:defRPr>
            </a:lvl5pPr>
            <a:lvl6pPr>
              <a:buNone/>
              <a:defRPr>
                <a:solidFill>
                  <a:srgbClr val="0A2540"/>
                </a:solidFill>
              </a:defRPr>
            </a:lvl6pPr>
            <a:lvl7pPr>
              <a:buNone/>
              <a:defRPr>
                <a:solidFill>
                  <a:srgbClr val="0A2540"/>
                </a:solidFill>
              </a:defRPr>
            </a:lvl7pPr>
            <a:lvl8pPr>
              <a:buNone/>
              <a:defRPr>
                <a:solidFill>
                  <a:srgbClr val="0A2540"/>
                </a:solidFill>
              </a:defRPr>
            </a:lvl8pPr>
            <a:lvl9pPr>
              <a:buNone/>
              <a:defRPr>
                <a:solidFill>
                  <a:srgbClr val="0A2540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092B2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A2540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FD0188-3917-45CD-8AF7-FBB815AD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3530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Acordar una propuesta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BFA34-3559-423D-9655-AF0E2B4D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28750"/>
            <a:ext cx="2667000" cy="2667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23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59444-DD95-4BD6-AC8F-F4BFB8A4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B8CBDC"/>
                </a:solidFill>
              </a:defRPr>
            </a:defPPr>
            <a:lvl1pPr>
              <a:buNone/>
              <a:defRPr>
                <a:solidFill>
                  <a:srgbClr val="B8CBDC"/>
                </a:solidFill>
              </a:defRPr>
            </a:lvl1pPr>
            <a:lvl2pPr>
              <a:buNone/>
              <a:defRPr>
                <a:solidFill>
                  <a:srgbClr val="B8CBDC"/>
                </a:solidFill>
              </a:defRPr>
            </a:lvl2pPr>
            <a:lvl3pPr>
              <a:buNone/>
              <a:defRPr>
                <a:solidFill>
                  <a:srgbClr val="B8CBDC"/>
                </a:solidFill>
              </a:defRPr>
            </a:lvl3pPr>
            <a:lvl4pPr>
              <a:buNone/>
              <a:defRPr>
                <a:solidFill>
                  <a:srgbClr val="B8CBDC"/>
                </a:solidFill>
              </a:defRPr>
            </a:lvl4pPr>
            <a:lvl5pPr>
              <a:buNone/>
              <a:defRPr>
                <a:solidFill>
                  <a:srgbClr val="B8CBDC"/>
                </a:solidFill>
              </a:defRPr>
            </a:lvl5pPr>
            <a:lvl6pPr>
              <a:buNone/>
              <a:defRPr>
                <a:solidFill>
                  <a:srgbClr val="B8CBDC"/>
                </a:solidFill>
              </a:defRPr>
            </a:lvl6pPr>
            <a:lvl7pPr>
              <a:buNone/>
              <a:defRPr>
                <a:solidFill>
                  <a:srgbClr val="B8CBDC"/>
                </a:solidFill>
              </a:defRPr>
            </a:lvl7pPr>
            <a:lvl8pPr>
              <a:buNone/>
              <a:defRPr>
                <a:solidFill>
                  <a:srgbClr val="B8CBDC"/>
                </a:solidFill>
              </a:defRPr>
            </a:lvl8pPr>
            <a:lvl9pPr>
              <a:buNone/>
              <a:defRPr>
                <a:solidFill>
                  <a:srgbClr val="B8CBDC"/>
                </a:solidFill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AFC4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8CBDC"/>
                </a:solidFill>
                <a:latin typeface="Aptos"/>
                <a:ea typeface="Aptos"/>
                <a:cs typeface="Aptos"/>
              </a:rPr>
              <a:t>HALEVERSE acompaña la renovación tecnológica de su organización.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E4978-C4D2-4111-93AF-9673903C0E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30978da914224"/>
          <a:srcRect xmlns:a="http://schemas.openxmlformats.org/drawingml/2006/main" l="28000" t="28000" r="28000" b="28000"/>
          <a:stretch xmlns:a="http://schemas.openxmlformats.org/drawingml/2006/main"/>
        </p:blipFill>
        <p:spPr>
          <a:xfrm xmlns:a="http://schemas.openxmlformats.org/drawingml/2006/main">
            <a:off x="8667750" y="161925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20" name="HALEVERSE brand">
            <a:extLst xmlns:a="http://schemas.openxmlformats.org/drawingml/2006/main">
              <a:ext uri="{FF2B5EF4-FFF2-40B4-BE49-F238E27FC236}">
                <a16:creationId xmlns:a16="http://schemas.microsoft.com/office/drawing/2014/main" id="{F3AE06D7-53C2-4DD0-845B-DA524C94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719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  <a:lvl1pPr algn="ctr">
              <a:buNone/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  <a:lvl2pPr algn="ctr">
              <a:buNone/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2pPr>
            <a:lvl3pPr algn="ctr">
              <a:buNone/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3pPr>
            <a:lvl4pPr algn="ctr">
              <a:buNone/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4pPr>
            <a:lvl5pPr algn="ctr">
              <a:buNone/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5pPr>
            <a:lvl6pPr algn="ctr">
              <a:buNone/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6pPr>
            <a:lvl7pPr algn="ctr">
              <a:buNone/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7pPr>
            <a:lvl8pPr algn="ctr">
              <a:buNone/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8pPr>
            <a:lvl9pPr algn="ctr">
              <a:buNone/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ctr">
              <a:buNone/>
              <a:def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HALEVERSE</a:t>
            </a:r>
          </a:p>
        </p:txBody>
      </p:sp>
      <p:sp>
        <p:nvSpPr>
          <p:cNvPr id="21" name="HALEVERSE website">
            <a:extLst xmlns:a="http://schemas.openxmlformats.org/drawingml/2006/main">
              <a:ext uri="{FF2B5EF4-FFF2-40B4-BE49-F238E27FC236}">
                <a16:creationId xmlns:a16="http://schemas.microsoft.com/office/drawing/2014/main" id="{B1C8807E-CD7B-4BC8-A87A-AC132A8C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14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650">
                <a:solidFill>
                  <a:srgbClr val="67E8F9"/>
                </a:solidFill>
                <a:latin typeface="Aptos Display"/>
                <a:ea typeface="Aptos Display"/>
                <a:cs typeface="Aptos Display"/>
              </a:defRPr>
            </a:defPPr>
            <a:lvl1pPr algn="ctr">
              <a:buNone/>
              <a:defRPr sz="1650">
                <a:solidFill>
                  <a:srgbClr val="67E8F9"/>
                </a:solidFill>
                <a:latin typeface="Aptos Display"/>
                <a:ea typeface="Aptos Display"/>
                <a:cs typeface="Aptos Display"/>
              </a:defRPr>
            </a:lvl1pPr>
            <a:lvl2pPr algn="ctr">
              <a:buNone/>
              <a:defRPr sz="1650">
                <a:solidFill>
                  <a:srgbClr val="67E8F9"/>
                </a:solidFill>
                <a:latin typeface="Aptos Display"/>
                <a:ea typeface="Aptos Display"/>
                <a:cs typeface="Aptos Display"/>
              </a:defRPr>
            </a:lvl2pPr>
            <a:lvl3pPr algn="ctr">
              <a:buNone/>
              <a:defRPr sz="1650">
                <a:solidFill>
                  <a:srgbClr val="67E8F9"/>
                </a:solidFill>
                <a:latin typeface="Aptos Display"/>
                <a:ea typeface="Aptos Display"/>
                <a:cs typeface="Aptos Display"/>
              </a:defRPr>
            </a:lvl3pPr>
            <a:lvl4pPr algn="ctr">
              <a:buNone/>
              <a:defRPr sz="1650">
                <a:solidFill>
                  <a:srgbClr val="67E8F9"/>
                </a:solidFill>
                <a:latin typeface="Aptos Display"/>
                <a:ea typeface="Aptos Display"/>
                <a:cs typeface="Aptos Display"/>
              </a:defRPr>
            </a:lvl4pPr>
            <a:lvl5pPr algn="ctr">
              <a:buNone/>
              <a:defRPr sz="1650">
                <a:solidFill>
                  <a:srgbClr val="67E8F9"/>
                </a:solidFill>
                <a:latin typeface="Aptos Display"/>
                <a:ea typeface="Aptos Display"/>
                <a:cs typeface="Aptos Display"/>
              </a:defRPr>
            </a:lvl5pPr>
            <a:lvl6pPr algn="ctr">
              <a:buNone/>
              <a:defRPr sz="1650">
                <a:solidFill>
                  <a:srgbClr val="67E8F9"/>
                </a:solidFill>
                <a:latin typeface="Aptos Display"/>
                <a:ea typeface="Aptos Display"/>
                <a:cs typeface="Aptos Display"/>
              </a:defRPr>
            </a:lvl6pPr>
            <a:lvl7pPr algn="ctr">
              <a:buNone/>
              <a:defRPr sz="1650">
                <a:solidFill>
                  <a:srgbClr val="67E8F9"/>
                </a:solidFill>
                <a:latin typeface="Aptos Display"/>
                <a:ea typeface="Aptos Display"/>
                <a:cs typeface="Aptos Display"/>
              </a:defRPr>
            </a:lvl7pPr>
            <a:lvl8pPr algn="ctr">
              <a:buNone/>
              <a:defRPr sz="1650">
                <a:solidFill>
                  <a:srgbClr val="67E8F9"/>
                </a:solidFill>
                <a:latin typeface="Aptos Display"/>
                <a:ea typeface="Aptos Display"/>
                <a:cs typeface="Aptos Display"/>
              </a:defRPr>
            </a:lvl8pPr>
            <a:lvl9pPr algn="ctr">
              <a:buNone/>
              <a:defRPr sz="1650">
                <a:solidFill>
                  <a:srgbClr val="67E8F9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ctr">
              <a:buNone/>
              <a:defRPr sz="1650">
                <a:solidFill>
                  <a:srgbClr val="67E8F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>
                <a:solidFill>
                  <a:srgbClr val="67E8F9"/>
                </a:solidFill>
                <a:latin typeface="Aptos Display"/>
                <a:ea typeface="Aptos Display"/>
                <a:cs typeface="Aptos Display"/>
              </a:rPr>
              <a:t>haleverse.com</a:t>
            </a:r>
          </a:p>
        </p:txBody>
      </p:sp>
    </p:spTree>
    <p:extLst>
      <p:ext uri="{BB962C8B-B14F-4D97-AF65-F5344CB8AC3E}">
        <p14:creationId xmlns:p14="http://schemas.microsoft.com/office/powerpoint/2010/main" val="1533324703"/>
      </p:ext>
    </p:extLst>
  </p:cSld>
</p:sld>
</file>

<file path=ppt/theme/theme1.xml><?xml version="1.0" encoding="utf-8"?>
<a:theme xmlns:a="http://schemas.openxmlformats.org/drawingml/2006/main" name="ChatGPT">
  <a:themeElements>
    <a:clrScheme name="HALEVERS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67E8F9"/>
      </a:hlink>
      <a:folHlink>
        <a:srgbClr val="67E8F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HALEVE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2026-10-25T20:43:20.7190000Z</dcterms:created>
  <dcterms:modified xsi:type="dcterms:W3CDTF">2026-10-25T20:43:20.7190000Z</dcterms:modified>
</coreProperties>
</file>